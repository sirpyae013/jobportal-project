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6c1e22fac4491b" /><Relationship Type="http://schemas.openxmlformats.org/officeDocument/2006/relationships/extended-properties" Target="/docProps/app.xml" Id="R4a16e5f36e7e40d3" /><Relationship Type="http://schemas.openxmlformats.org/officeDocument/2006/relationships/officeDocument" Target="/ppt/presentation.xml" Id="R3e8c0184ad3346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c72d4e74994a3f"/>
  </p:sldMasterIdLst>
  <p:notesMasterIdLst>
    <p:notesMasterId xmlns:r="http://schemas.openxmlformats.org/officeDocument/2006/relationships" r:id="Rd92cc4088bd44ede"/>
  </p:notesMasterIdLst>
  <p:sldIdLst>
    <p:sldId xmlns:r="http://schemas.openxmlformats.org/officeDocument/2006/relationships" id="256" r:id="R79c7040194e14276"/>
    <p:sldId xmlns:r="http://schemas.openxmlformats.org/officeDocument/2006/relationships" id="257" r:id="R4439085da5d7468c"/>
    <p:sldId xmlns:r="http://schemas.openxmlformats.org/officeDocument/2006/relationships" id="258" r:id="Rff94f9c78f4e4865"/>
    <p:sldId xmlns:r="http://schemas.openxmlformats.org/officeDocument/2006/relationships" id="259" r:id="R708e2e0b79744981"/>
    <p:sldId xmlns:r="http://schemas.openxmlformats.org/officeDocument/2006/relationships" id="260" r:id="R1ce37b7aaf22476f"/>
    <p:sldId xmlns:r="http://schemas.openxmlformats.org/officeDocument/2006/relationships" id="261" r:id="R531659f77a584d48"/>
    <p:sldId xmlns:r="http://schemas.openxmlformats.org/officeDocument/2006/relationships" id="262" r:id="R31e57e15203342f2"/>
    <p:sldId xmlns:r="http://schemas.openxmlformats.org/officeDocument/2006/relationships" id="263" r:id="R1a4756c31c994072"/>
    <p:sldId xmlns:r="http://schemas.openxmlformats.org/officeDocument/2006/relationships" id="264" r:id="Rde18ef7418454f42"/>
    <p:sldId xmlns:r="http://schemas.openxmlformats.org/officeDocument/2006/relationships" id="265" r:id="Raa360f1c2ed74f3c"/>
    <p:sldId xmlns:r="http://schemas.openxmlformats.org/officeDocument/2006/relationships" id="266" r:id="R81c2ada67da045be"/>
    <p:sldId xmlns:r="http://schemas.openxmlformats.org/officeDocument/2006/relationships" id="267" r:id="Reeaf955eb8fe45c6"/>
    <p:sldId xmlns:r="http://schemas.openxmlformats.org/officeDocument/2006/relationships" id="268" r:id="Re9ec533715f1463f"/>
    <p:sldId xmlns:r="http://schemas.openxmlformats.org/officeDocument/2006/relationships" id="269" r:id="Rd21354d3dd834ba8"/>
    <p:sldId xmlns:r="http://schemas.openxmlformats.org/officeDocument/2006/relationships" id="270" r:id="Rebf876c755604b09"/>
    <p:sldId xmlns:r="http://schemas.openxmlformats.org/officeDocument/2006/relationships" id="271" r:id="R99f0a29893dc49e7"/>
    <p:sldId xmlns:r="http://schemas.openxmlformats.org/officeDocument/2006/relationships" id="272" r:id="Rae53409829bd4bab"/>
    <p:sldId xmlns:r="http://schemas.openxmlformats.org/officeDocument/2006/relationships" id="273" r:id="R465b7881dcd44d10"/>
    <p:sldId xmlns:r="http://schemas.openxmlformats.org/officeDocument/2006/relationships" id="274" r:id="R49a219c5609d4cc4"/>
    <p:sldId xmlns:r="http://schemas.openxmlformats.org/officeDocument/2006/relationships" id="275" r:id="R0297c886a1b34911"/>
    <p:sldId xmlns:r="http://schemas.openxmlformats.org/officeDocument/2006/relationships" id="276" r:id="Rbdb1986d695541cc"/>
    <p:sldId xmlns:r="http://schemas.openxmlformats.org/officeDocument/2006/relationships" id="277" r:id="R8a9f4cadbf3b4f11"/>
    <p:sldId xmlns:r="http://schemas.openxmlformats.org/officeDocument/2006/relationships" id="278" r:id="Rcc59228d75094232"/>
    <p:sldId xmlns:r="http://schemas.openxmlformats.org/officeDocument/2006/relationships" id="279" r:id="R7993578d02a64b52"/>
    <p:sldId xmlns:r="http://schemas.openxmlformats.org/officeDocument/2006/relationships" id="280" r:id="Rd0c9ce16662344bd"/>
    <p:sldId xmlns:r="http://schemas.openxmlformats.org/officeDocument/2006/relationships" id="281" r:id="R8eecf12701894f09"/>
    <p:sldId xmlns:r="http://schemas.openxmlformats.org/officeDocument/2006/relationships" id="282" r:id="R04170f03954b41ad"/>
    <p:sldId xmlns:r="http://schemas.openxmlformats.org/officeDocument/2006/relationships" id="283" r:id="R95f8e329092949a9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E3D75B6B-3153-4A9E-92BC-0026A6E4CD58}">
  <a:tblStyle styleId="{E3D75B6B-3153-4A9E-92BC-0026A6E4CD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c72d4e74994a3f" /><Relationship Type="http://schemas.openxmlformats.org/officeDocument/2006/relationships/theme" Target="/ppt/theme/theme1.xml" Id="Ra199644b2d174ea2" /><Relationship Type="http://schemas.openxmlformats.org/officeDocument/2006/relationships/notesMaster" Target="/ppt/notesMasters/notesMaster1.xml" Id="Rd92cc4088bd44ede" /><Relationship Type="http://schemas.openxmlformats.org/officeDocument/2006/relationships/presProps" Target="/ppt/presProps.xml" Id="Raf3a83fc687d4d0d" /><Relationship Type="http://schemas.openxmlformats.org/officeDocument/2006/relationships/viewProps" Target="/ppt/viewProps.xml" Id="Rba6c94ce57734d32" /><Relationship Type="http://schemas.openxmlformats.org/officeDocument/2006/relationships/tableStyles" Target="/ppt/tableStyles.xml" Id="R5953f00f1b764ae0" /><Relationship Type="http://schemas.openxmlformats.org/officeDocument/2006/relationships/slide" Target="/ppt/slides/slide1.xml" Id="R79c7040194e14276" /><Relationship Type="http://schemas.openxmlformats.org/officeDocument/2006/relationships/slide" Target="/ppt/slides/slide2.xml" Id="R4439085da5d7468c" /><Relationship Type="http://schemas.openxmlformats.org/officeDocument/2006/relationships/slide" Target="/ppt/slides/slide3.xml" Id="Rff94f9c78f4e4865" /><Relationship Type="http://schemas.openxmlformats.org/officeDocument/2006/relationships/slide" Target="/ppt/slides/slide4.xml" Id="R708e2e0b79744981" /><Relationship Type="http://schemas.openxmlformats.org/officeDocument/2006/relationships/slide" Target="/ppt/slides/slide5.xml" Id="R1ce37b7aaf22476f" /><Relationship Type="http://schemas.openxmlformats.org/officeDocument/2006/relationships/slide" Target="/ppt/slides/slide6.xml" Id="R531659f77a584d48" /><Relationship Type="http://schemas.openxmlformats.org/officeDocument/2006/relationships/slide" Target="/ppt/slides/slide7.xml" Id="R31e57e15203342f2" /><Relationship Type="http://schemas.openxmlformats.org/officeDocument/2006/relationships/slide" Target="/ppt/slides/slide8.xml" Id="R1a4756c31c994072" /><Relationship Type="http://schemas.openxmlformats.org/officeDocument/2006/relationships/slide" Target="/ppt/slides/slide9.xml" Id="Rde18ef7418454f42" /><Relationship Type="http://schemas.openxmlformats.org/officeDocument/2006/relationships/slide" Target="/ppt/slides/slide10.xml" Id="Raa360f1c2ed74f3c" /><Relationship Type="http://schemas.openxmlformats.org/officeDocument/2006/relationships/slide" Target="/ppt/slides/slide11.xml" Id="R81c2ada67da045be" /><Relationship Type="http://schemas.openxmlformats.org/officeDocument/2006/relationships/slide" Target="/ppt/slides/slide12.xml" Id="Reeaf955eb8fe45c6" /><Relationship Type="http://schemas.openxmlformats.org/officeDocument/2006/relationships/slide" Target="/ppt/slides/slide13.xml" Id="Re9ec533715f1463f" /><Relationship Type="http://schemas.openxmlformats.org/officeDocument/2006/relationships/slide" Target="/ppt/slides/slide14.xml" Id="Rd21354d3dd834ba8" /><Relationship Type="http://schemas.openxmlformats.org/officeDocument/2006/relationships/slide" Target="/ppt/slides/slide15.xml" Id="Rebf876c755604b09" /><Relationship Type="http://schemas.openxmlformats.org/officeDocument/2006/relationships/slide" Target="/ppt/slides/slide16.xml" Id="R99f0a29893dc49e7" /><Relationship Type="http://schemas.openxmlformats.org/officeDocument/2006/relationships/slide" Target="/ppt/slides/slide17.xml" Id="Rae53409829bd4bab" /><Relationship Type="http://schemas.openxmlformats.org/officeDocument/2006/relationships/slide" Target="/ppt/slides/slide18.xml" Id="R465b7881dcd44d10" /><Relationship Type="http://schemas.openxmlformats.org/officeDocument/2006/relationships/slide" Target="/ppt/slides/slide19.xml" Id="R49a219c5609d4cc4" /><Relationship Type="http://schemas.openxmlformats.org/officeDocument/2006/relationships/slide" Target="/ppt/slides/slide20.xml" Id="R0297c886a1b34911" /><Relationship Type="http://schemas.openxmlformats.org/officeDocument/2006/relationships/slide" Target="/ppt/slides/slide21.xml" Id="Rbdb1986d695541cc" /><Relationship Type="http://schemas.openxmlformats.org/officeDocument/2006/relationships/slide" Target="/ppt/slides/slide22.xml" Id="R8a9f4cadbf3b4f11" /><Relationship Type="http://schemas.openxmlformats.org/officeDocument/2006/relationships/slide" Target="/ppt/slides/slide23.xml" Id="Rcc59228d75094232" /><Relationship Type="http://schemas.openxmlformats.org/officeDocument/2006/relationships/slide" Target="/ppt/slides/slide24.xml" Id="R7993578d02a64b52" /><Relationship Type="http://schemas.openxmlformats.org/officeDocument/2006/relationships/slide" Target="/ppt/slides/slide25.xml" Id="Rd0c9ce16662344bd" /><Relationship Type="http://schemas.openxmlformats.org/officeDocument/2006/relationships/slide" Target="/ppt/slides/slide26.xml" Id="R8eecf12701894f09" /><Relationship Type="http://schemas.openxmlformats.org/officeDocument/2006/relationships/slide" Target="/ppt/slides/slide27.xml" Id="R04170f03954b41ad" /><Relationship Type="http://schemas.openxmlformats.org/officeDocument/2006/relationships/slide" Target="/ppt/slides/slide28.xml" Id="R95f8e329092949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3adbb093bc744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51e5749bc54788" /><Relationship Type="http://schemas.openxmlformats.org/officeDocument/2006/relationships/notesMaster" Target="/ppt/notesMasters/notesMaster1.xml" Id="Rf6d43b291d7b40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87ec474bee42d3" /><Relationship Type="http://schemas.openxmlformats.org/officeDocument/2006/relationships/notesMaster" Target="/ppt/notesMasters/notesMaster1.xml" Id="R8e6c235b45e140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b62db39821480d" /><Relationship Type="http://schemas.openxmlformats.org/officeDocument/2006/relationships/notesMaster" Target="/ppt/notesMasters/notesMaster1.xml" Id="R6b0910b9546b4d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2b71051d364d02" /><Relationship Type="http://schemas.openxmlformats.org/officeDocument/2006/relationships/notesMaster" Target="/ppt/notesMasters/notesMaster1.xml" Id="R217991d924c24a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a5933069d842f1" /><Relationship Type="http://schemas.openxmlformats.org/officeDocument/2006/relationships/notesMaster" Target="/ppt/notesMasters/notesMaster1.xml" Id="R970a71620eb74a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9bfeadb8dd4a97" /><Relationship Type="http://schemas.openxmlformats.org/officeDocument/2006/relationships/notesMaster" Target="/ppt/notesMasters/notesMaster1.xml" Id="R575289086a0b42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50de18555744f4" /><Relationship Type="http://schemas.openxmlformats.org/officeDocument/2006/relationships/notesMaster" Target="/ppt/notesMasters/notesMaster1.xml" Id="R71e6ba80c4e24b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88a4dcf2894bab" /><Relationship Type="http://schemas.openxmlformats.org/officeDocument/2006/relationships/notesMaster" Target="/ppt/notesMasters/notesMaster1.xml" Id="Rdbd3b275e0694c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d1826851d64fa2" /><Relationship Type="http://schemas.openxmlformats.org/officeDocument/2006/relationships/notesMaster" Target="/ppt/notesMasters/notesMaster1.xml" Id="R539e323f01eb41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ea4e2cb94c442f" /><Relationship Type="http://schemas.openxmlformats.org/officeDocument/2006/relationships/notesMaster" Target="/ppt/notesMasters/notesMaster1.xml" Id="R665015bc496140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3ca39effbd44ff" /><Relationship Type="http://schemas.openxmlformats.org/officeDocument/2006/relationships/notesMaster" Target="/ppt/notesMasters/notesMaster1.xml" Id="R2e9e447526c94f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a4135e0e0f42c6" /><Relationship Type="http://schemas.openxmlformats.org/officeDocument/2006/relationships/notesMaster" Target="/ppt/notesMasters/notesMaster1.xml" Id="Rbdd0abfb0b604e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f5163ec9c94025" /><Relationship Type="http://schemas.openxmlformats.org/officeDocument/2006/relationships/notesMaster" Target="/ppt/notesMasters/notesMaster1.xml" Id="R483176a00cf845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4de1b5f3364af6" /><Relationship Type="http://schemas.openxmlformats.org/officeDocument/2006/relationships/notesMaster" Target="/ppt/notesMasters/notesMaster1.xml" Id="R1bf309811097431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c6f2e9d732483e" /><Relationship Type="http://schemas.openxmlformats.org/officeDocument/2006/relationships/notesMaster" Target="/ppt/notesMasters/notesMaster1.xml" Id="R4a1d97a179b14c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c7ca14ecff4255" /><Relationship Type="http://schemas.openxmlformats.org/officeDocument/2006/relationships/notesMaster" Target="/ppt/notesMasters/notesMaster1.xml" Id="R7ed861b476c5454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656d1b7f6564107" /><Relationship Type="http://schemas.openxmlformats.org/officeDocument/2006/relationships/notesMaster" Target="/ppt/notesMasters/notesMaster1.xml" Id="Rf20a24054eb94de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744125917c4f1c" /><Relationship Type="http://schemas.openxmlformats.org/officeDocument/2006/relationships/notesMaster" Target="/ppt/notesMasters/notesMaster1.xml" Id="R5be1e97ae3c1425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d841dbf8b984ce8" /><Relationship Type="http://schemas.openxmlformats.org/officeDocument/2006/relationships/notesMaster" Target="/ppt/notesMasters/notesMaster1.xml" Id="R31af8f73a0334c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968273986a415e" /><Relationship Type="http://schemas.openxmlformats.org/officeDocument/2006/relationships/notesMaster" Target="/ppt/notesMasters/notesMaster1.xml" Id="R1d5dde6ee8234c7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28b38dbe18d4b57" /><Relationship Type="http://schemas.openxmlformats.org/officeDocument/2006/relationships/notesMaster" Target="/ppt/notesMasters/notesMaster1.xml" Id="R06adf535b59f49d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35fca60ca7b477e" /><Relationship Type="http://schemas.openxmlformats.org/officeDocument/2006/relationships/notesMaster" Target="/ppt/notesMasters/notesMaster1.xml" Id="R4347afe336cd45c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01c3aa4c064424b" /><Relationship Type="http://schemas.openxmlformats.org/officeDocument/2006/relationships/notesMaster" Target="/ppt/notesMasters/notesMaster1.xml" Id="Rd612f425265a460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aeddb861b1c449d" /><Relationship Type="http://schemas.openxmlformats.org/officeDocument/2006/relationships/notesMaster" Target="/ppt/notesMasters/notesMaster1.xml" Id="R1d6b46f90c6c4fa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d9397128c51406c" /><Relationship Type="http://schemas.openxmlformats.org/officeDocument/2006/relationships/notesMaster" Target="/ppt/notesMasters/notesMaster1.xml" Id="R8bc8e8971ae34d4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10182673a1c481b" /><Relationship Type="http://schemas.openxmlformats.org/officeDocument/2006/relationships/notesMaster" Target="/ppt/notesMasters/notesMaster1.xml" Id="R2f595fcc5f7f4ed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efa5be48849414f" /><Relationship Type="http://schemas.openxmlformats.org/officeDocument/2006/relationships/notesMaster" Target="/ppt/notesMasters/notesMaster1.xml" Id="R26ff82fd8fdf491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0502d2b1a4844c4" /><Relationship Type="http://schemas.openxmlformats.org/officeDocument/2006/relationships/notesMaster" Target="/ppt/notesMasters/notesMaster1.xml" Id="R366d001e9fe842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updated final report and current project implementation reviewed on 20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updated final report and current project implementation reviewed on 20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updated final report and current project implementation reviewed on 20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updated final report and current project implementation reviewed on 20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updated final report and current project implementation reviewed on 20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updated final report and current project implementation reviewed on 20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updated final report and current project implementation reviewed on 20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updated final report and current project implementation reviewed on 20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Django Admin remains available for rejection and advanced editing. The custom dashboard does not provide general record editing or rejection.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updated final report and current project implementation reviewed on 20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updated final report and current project implementation reviewed on 20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Notifications use REST retrieval, not push messaging. The interface currently loads the first notification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Browser → Cloudflare Worker (React assets and proxy) → Render / Django REST API → relational database and private file storage. Show SMTP/Resend and Google OAuth as external integrations. Separate JWT users from the administrator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Entities: User, StudentProfile, RecruiterProfile, Company, Skill, Job, Application, Notification and EmailVerificationCode. Show student–skill and job–skill junctions, one company per recruiter, the unique student–job application pair, and verification linked to allauth EmailAddress.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Student: register → verify code → profile → discover job → apply → track outcome. Recruiter: register → verify → complete profile/company → both approvals → post job → review. Applications: Submitted, Under Review, Accepted, Rejected, Withdrawn. Withdrawal allowed from Submitted or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Recorded commands: backend/manage.py test --noinput --verbosity 1; backend/manage.py check; npm.cmd run lint; node --experimental-strip-types --test tests/design.test.mjs tests/worker.test.mjs; npm.cmd run build. Test emails were simulated. No browser acceptance, load or real provider delivery test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Configured frontend: https://jobportal-frontend.shinzo0864.workers.dev/ . Backend: https://jobportal-project-didk.onrender.com . Public homepage and health checks timed out from the report environment; availability was not established. These are source-configured addresses, not an uptime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updated final report and current project implementation reviewed on 20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updated final report and current project implementation reviewed on 20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updated final report and current project implementation reviewed on 20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Show current job filters, student profile fields and resume upload. Use demo accounts; remove unrelated personal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Show job publication and applicant review. Demonstrate the actual application states; do not show candidate match scores, which are not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Show summary counts, pending approvals and searchable records. Do not expose credentials or unrelated user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Show the email/code entry page and resend controls. Use a demonstration code, not an active credential.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Show verified students, search/filter controls and resume availability. Incomplete profiles are allowed.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Show name, job title, phone, bio, photo and company editing. Review fields and email remain read-only.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https://docs.djangoproject.com/en/5.2/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https://www.django-rest-framework.org/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https://react.dev/learn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https://www.typescriptlang.org/docs/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https://developers.cloudflare.com/workers/static-assets/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https://render.com/docs/deploy-django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https://resend.com/docs/api-reference/emails/send-email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Framework references retained from report; hosting references consulted 20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updated final report and current project implementation reviewed on 20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6c495b8a44c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1f21620e046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284bb74be43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6914b8109744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ca7251011484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d75ff3e4254d5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1c15f0e01488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923cacdbe429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0a63514be4d2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4b001016043a6" /></Relationships>
</file>

<file path=ppt/slideLayouts/slideLayout2.xml><?xml version="1.0" encoding="utf-8"?>
<p:sldLayout xmlns:p="http://schemas.openxmlformats.org/presentationml/2006/main">
  <p:cSld name="CUSTOM_10_1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9">
            <a:extLst xmlns:a="http://schemas.openxmlformats.org/drawingml/2006/main">
              <a:ext uri="{FF2B5EF4-FFF2-40B4-BE49-F238E27FC236}">
                <a16:creationId xmlns:a16="http://schemas.microsoft.com/office/drawing/2014/main" id="{E4E61E16-213C-43A5-8FC2-0F6A2B10FDF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895950" y="1682000"/>
            <a:ext cx="3847200" cy="237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6" name="Google Shape;56;p9">
            <a:extLst xmlns:a="http://schemas.openxmlformats.org/drawingml/2006/main">
              <a:ext uri="{FF2B5EF4-FFF2-40B4-BE49-F238E27FC236}">
                <a16:creationId xmlns:a16="http://schemas.microsoft.com/office/drawing/2014/main" id="{625C21B2-9F11-4BA6-A8C4-2659D052828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13225" y="445025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CUSTOM_10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B3D021AA-C028-4BC2-8B2E-9FAA3C60A72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13225" y="445025"/>
            <a:ext cx="47115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D5C2ED1F-7403-4649-BAFE-9F5BBB77D0C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713250" y="1272925"/>
            <a:ext cx="7717500" cy="32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1100"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 Shape;9;p2">
            <a:extLst xmlns:a="http://schemas.openxmlformats.org/drawingml/2006/main">
              <a:ext uri="{FF2B5EF4-FFF2-40B4-BE49-F238E27FC236}">
                <a16:creationId xmlns:a16="http://schemas.microsoft.com/office/drawing/2014/main" id="{DEB913BF-8D47-42FA-9538-9EEFBAB98FF0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039975" y="1324500"/>
            <a:ext cx="70641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65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383D9D32-63DF-4F11-B726-5B934BDD88A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040000" y="3377100"/>
            <a:ext cx="7064100" cy="44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CUSTOM_1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20">
            <a:extLst xmlns:a="http://schemas.openxmlformats.org/drawingml/2006/main">
              <a:ext uri="{FF2B5EF4-FFF2-40B4-BE49-F238E27FC236}">
                <a16:creationId xmlns:a16="http://schemas.microsoft.com/office/drawing/2014/main" id="{CAA58860-35C1-47B9-88F2-8AE19069954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3742850" y="1549875"/>
            <a:ext cx="4545000" cy="129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9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9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9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9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9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9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9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9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9000"/>
            </a:lvl9pPr>
          </a:lstStyle>
          <a:p xmlns:a="http://schemas.openxmlformats.org/drawingml/2006/main"/>
        </p:txBody>
      </p:sp>
      <p:sp>
        <p:nvSpPr>
          <p:cNvPr id="145" name="Google Shape;145;p20">
            <a:extLst xmlns:a="http://schemas.openxmlformats.org/drawingml/2006/main">
              <a:ext uri="{FF2B5EF4-FFF2-40B4-BE49-F238E27FC236}">
                <a16:creationId xmlns:a16="http://schemas.microsoft.com/office/drawing/2014/main" id="{AE87B8EF-120C-4177-B520-1BB9878E14EF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3742850" y="3039213"/>
            <a:ext cx="4545000" cy="55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CUSTOM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19">
            <a:extLst xmlns:a="http://schemas.openxmlformats.org/drawingml/2006/main">
              <a:ext uri="{FF2B5EF4-FFF2-40B4-BE49-F238E27FC236}">
                <a16:creationId xmlns:a16="http://schemas.microsoft.com/office/drawing/2014/main" id="{59E7602E-48E9-4296-A08F-FA6AF621787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45550" y="1482825"/>
            <a:ext cx="7452900" cy="129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7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9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9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9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9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9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9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9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9000"/>
            </a:lvl9pPr>
          </a:lstStyle>
          <a:p xmlns:a="http://schemas.openxmlformats.org/drawingml/2006/main"/>
        </p:txBody>
      </p:sp>
      <p:sp>
        <p:nvSpPr>
          <p:cNvPr id="140" name="Google Shape;140;p19">
            <a:extLst xmlns:a="http://schemas.openxmlformats.org/drawingml/2006/main">
              <a:ext uri="{FF2B5EF4-FFF2-40B4-BE49-F238E27FC236}">
                <a16:creationId xmlns:a16="http://schemas.microsoft.com/office/drawing/2014/main" id="{D99AF70E-66A4-439A-8614-9D4D1166BE5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2299500" y="2972150"/>
            <a:ext cx="4545000" cy="55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CUSTOM_30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type="blank">
  <p:cSld name="BLANK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>
  <p:cSld name="CUSTOM_10_1_1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3caab8118de496d" /><Relationship Type="http://schemas.openxmlformats.org/officeDocument/2006/relationships/slideLayout" Target="/ppt/slideLayouts/slideLayout2.xml" Id="R6b352ec82af54f45" /><Relationship Type="http://schemas.openxmlformats.org/officeDocument/2006/relationships/slideLayout" Target="/ppt/slideLayouts/slideLayout3.xml" Id="R5c79c8f6658f4800" /><Relationship Type="http://schemas.openxmlformats.org/officeDocument/2006/relationships/slideLayout" Target="/ppt/slideLayouts/slideLayout4.xml" Id="Rfb50debf6da64146" /><Relationship Type="http://schemas.openxmlformats.org/officeDocument/2006/relationships/slideLayout" Target="/ppt/slideLayouts/slideLayout5.xml" Id="Rfdf750cc68a847d0" /><Relationship Type="http://schemas.openxmlformats.org/officeDocument/2006/relationships/slideLayout" Target="/ppt/slideLayouts/slideLayout6.xml" Id="Rd1dcc542060a47e0" /><Relationship Type="http://schemas.openxmlformats.org/officeDocument/2006/relationships/slideLayout" Target="/ppt/slideLayouts/slideLayout7.xml" Id="Rca5897db7074457f" /><Relationship Type="http://schemas.openxmlformats.org/officeDocument/2006/relationships/slideLayout" Target="/ppt/slideLayouts/slideLayout8.xml" Id="Ra4974c57825646c9" /><Relationship Type="http://schemas.openxmlformats.org/officeDocument/2006/relationships/slideLayout" Target="/ppt/slideLayouts/slideLayout9.xml" Id="R47fbb3e9cc0645f0" /><Relationship Type="http://schemas.openxmlformats.org/officeDocument/2006/relationships/slideLayout" Target="/ppt/slideLayouts/slideLayout10.xml" Id="R8f436ef9fb464272" /><Relationship Type="http://schemas.openxmlformats.org/officeDocument/2006/relationships/slideLayout" Target="/ppt/slideLayouts/slideLayout11.xml" Id="R09100889aa2d49b4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4E113672-BC00-4F6C-BCAE-FBFC7F126AE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13225" y="445025"/>
            <a:ext cx="7717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000" i="1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000" i="1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000" i="1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000" i="1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000" i="1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000" i="1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000" i="1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000" i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FB425B7A-519E-4300-8E19-9561A8EA9703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713250" y="1152475"/>
            <a:ext cx="77175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352ec82af54f45"/>
    <p:sldLayoutId xmlns:r="http://schemas.openxmlformats.org/officeDocument/2006/relationships" id="2147483650" r:id="R5c79c8f6658f4800"/>
    <p:sldLayoutId xmlns:r="http://schemas.openxmlformats.org/officeDocument/2006/relationships" id="2147483651" r:id="Rfb50debf6da64146"/>
    <p:sldLayoutId xmlns:r="http://schemas.openxmlformats.org/officeDocument/2006/relationships" id="2147483652" r:id="Rfdf750cc68a847d0"/>
    <p:sldLayoutId xmlns:r="http://schemas.openxmlformats.org/officeDocument/2006/relationships" id="2147483653" r:id="Rd1dcc542060a47e0"/>
    <p:sldLayoutId xmlns:r="http://schemas.openxmlformats.org/officeDocument/2006/relationships" id="2147483654" r:id="Rca5897db7074457f"/>
    <p:sldLayoutId xmlns:r="http://schemas.openxmlformats.org/officeDocument/2006/relationships" id="2147483655" r:id="Ra4974c57825646c9"/>
    <p:sldLayoutId xmlns:r="http://schemas.openxmlformats.org/officeDocument/2006/relationships" id="2147483656" r:id="R47fbb3e9cc0645f0"/>
    <p:sldLayoutId xmlns:r="http://schemas.openxmlformats.org/officeDocument/2006/relationships" id="2147483657" r:id="R8f436ef9fb464272"/>
    <p:sldLayoutId xmlns:r="http://schemas.openxmlformats.org/officeDocument/2006/relationships" id="2147483658" r:id="R09100889aa2d49b4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74ef8eb1a04a16" /><Relationship Type="http://schemas.openxmlformats.org/officeDocument/2006/relationships/image" Target="/ppt/media/image.png" Id="R83ff80c2942d4ae9" /><Relationship Type="http://schemas.openxmlformats.org/officeDocument/2006/relationships/notesSlide" Target="/ppt/notesSlides/notesSlide1.xml" Id="Reb915dc30efd43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b8e18a44f56455a" /><Relationship Type="http://schemas.openxmlformats.org/officeDocument/2006/relationships/notesSlide" Target="/ppt/notesSlides/notesSlide2.xml" Id="R7a52c6a5dd6b40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5a79d5d24de47d1" /><Relationship Type="http://schemas.openxmlformats.org/officeDocument/2006/relationships/notesSlide" Target="/ppt/notesSlides/notesSlide3.xml" Id="R82aee53ed5a442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602558c6ec64c57" /><Relationship Type="http://schemas.openxmlformats.org/officeDocument/2006/relationships/notesSlide" Target="/ppt/notesSlides/notesSlide4.xml" Id="R2892412769d344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41b55dabcc8490d" /><Relationship Type="http://schemas.openxmlformats.org/officeDocument/2006/relationships/notesSlide" Target="/ppt/notesSlides/notesSlide5.xml" Id="R875f896bcac04b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e36436e55714c1e" /><Relationship Type="http://schemas.openxmlformats.org/officeDocument/2006/relationships/notesSlide" Target="/ppt/notesSlides/notesSlide6.xml" Id="Rf88ad78cf9934e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b79ce9a659c4d0d" /><Relationship Type="http://schemas.openxmlformats.org/officeDocument/2006/relationships/notesSlide" Target="/ppt/notesSlides/notesSlide7.xml" Id="R02e962c1423c42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3fa5a20e1604e42" /><Relationship Type="http://schemas.openxmlformats.org/officeDocument/2006/relationships/notesSlide" Target="/ppt/notesSlides/notesSlide8.xml" Id="Rb4d1c55deb0a4f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aed383bc5274ca9" /><Relationship Type="http://schemas.openxmlformats.org/officeDocument/2006/relationships/notesSlide" Target="/ppt/notesSlides/notesSlide9.xml" Id="R5f468eb0a5034c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06d364b98a94153" /><Relationship Type="http://schemas.openxmlformats.org/officeDocument/2006/relationships/notesSlide" Target="/ppt/notesSlides/notesSlide10.xml" Id="R4dd12a7fc98a49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742091ed79a48e9" /><Relationship Type="http://schemas.openxmlformats.org/officeDocument/2006/relationships/notesSlide" Target="/ppt/notesSlides/notesSlide11.xml" Id="R45852590c15742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ca37aabca1a4da4" /><Relationship Type="http://schemas.openxmlformats.org/officeDocument/2006/relationships/notesSlide" Target="/ppt/notesSlides/notesSlide12.xml" Id="Rf265840b0fee43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b3a3afa8cd64706" /><Relationship Type="http://schemas.openxmlformats.org/officeDocument/2006/relationships/notesSlide" Target="/ppt/notesSlides/notesSlide13.xml" Id="R0f77e22bc60743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75d1dfcad8c4254" /><Relationship Type="http://schemas.openxmlformats.org/officeDocument/2006/relationships/notesSlide" Target="/ppt/notesSlides/notesSlide14.xml" Id="R7ee06a48ec5e4f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a6a374e95fb47ff" /><Relationship Type="http://schemas.openxmlformats.org/officeDocument/2006/relationships/notesSlide" Target="/ppt/notesSlides/notesSlide15.xml" Id="R65d462ec49414f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d92fb9bf8514a6f" /><Relationship Type="http://schemas.openxmlformats.org/officeDocument/2006/relationships/notesSlide" Target="/ppt/notesSlides/notesSlide16.xml" Id="Re4492e17cad640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c44afe96086470d" /><Relationship Type="http://schemas.openxmlformats.org/officeDocument/2006/relationships/notesSlide" Target="/ppt/notesSlides/notesSlide17.xml" Id="Rcb6e73a948bd41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feb63a603444e00" /><Relationship Type="http://schemas.openxmlformats.org/officeDocument/2006/relationships/notesSlide" Target="/ppt/notesSlides/notesSlide18.xml" Id="R11ec255916fa487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2ed4859243e4b09" /><Relationship Type="http://schemas.openxmlformats.org/officeDocument/2006/relationships/notesSlide" Target="/ppt/notesSlides/notesSlide19.xml" Id="R8c476affcc4f48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6c8f7fd5ecf4125" /><Relationship Type="http://schemas.openxmlformats.org/officeDocument/2006/relationships/notesSlide" Target="/ppt/notesSlides/notesSlide20.xml" Id="R0d764d7f30cd445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92d7f6eb4724b13" /><Relationship Type="http://schemas.openxmlformats.org/officeDocument/2006/relationships/notesSlide" Target="/ppt/notesSlides/notesSlide21.xml" Id="Rb1d56a6d33d141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d971574878a482b" /><Relationship Type="http://schemas.openxmlformats.org/officeDocument/2006/relationships/notesSlide" Target="/ppt/notesSlides/notesSlide22.xml" Id="R3b4c3e38f77942c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54b6a2c5a3b4114" /><Relationship Type="http://schemas.openxmlformats.org/officeDocument/2006/relationships/notesSlide" Target="/ppt/notesSlides/notesSlide23.xml" Id="Rc8b70dfacf95470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ad870eeb9164797" /><Relationship Type="http://schemas.openxmlformats.org/officeDocument/2006/relationships/notesSlide" Target="/ppt/notesSlides/notesSlide24.xml" Id="R064ecb1ed1c94b1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d062196dd704258" /><Relationship Type="http://schemas.openxmlformats.org/officeDocument/2006/relationships/notesSlide" Target="/ppt/notesSlides/notesSlide25.xml" Id="R1e97f70dbea94c8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1eda10ec52644b9" /><Relationship Type="http://schemas.openxmlformats.org/officeDocument/2006/relationships/notesSlide" Target="/ppt/notesSlides/notesSlide26.xml" Id="Rdaeee7d567dd430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1ee459f12684e47" /><Relationship Type="http://schemas.openxmlformats.org/officeDocument/2006/relationships/notesSlide" Target="/ppt/notesSlides/notesSlide27.xml" Id="R5d0ea8e83da6480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454a1d85744dfd" /><Relationship Type="http://schemas.openxmlformats.org/officeDocument/2006/relationships/notesSlide" Target="/ppt/notesSlides/notesSlide28.xml" Id="R12dae68594f640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8" name="Google Shape;488;p60">
            <a:extLst xmlns:a="http://schemas.openxmlformats.org/drawingml/2006/main">
              <a:ext uri="{FF2B5EF4-FFF2-40B4-BE49-F238E27FC236}">
                <a16:creationId xmlns:a16="http://schemas.microsoft.com/office/drawing/2014/main" id="{684FA7D8-DFA7-429B-AB98-3FCCAB3202A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14317" y="1324500"/>
            <a:ext cx="70641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r>
              <a:rPr sz="3500" b="1"/>
              <a:t>Myanmar Institute of Information Technology</a:t>
            </a:r>
            <a:br/>
            <a:r>
              <a:rPr sz="3500" b="1"/>
              <a:t>PROJ 3001 Special Project II</a:t>
            </a:r>
          </a:p>
        </p:txBody>
      </p:sp>
      <p:sp>
        <p:nvSpPr>
          <p:cNvPr id="489" name="Google Shape;489;p60">
            <a:extLst xmlns:a="http://schemas.openxmlformats.org/drawingml/2006/main">
              <a:ext uri="{FF2B5EF4-FFF2-40B4-BE49-F238E27FC236}">
                <a16:creationId xmlns:a16="http://schemas.microsoft.com/office/drawing/2014/main" id="{948B4704-F6A1-4B0A-850E-434CA8FA77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40000" y="3377100"/>
            <a:ext cx="7064100" cy="44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dk1"/>
                </a:solidFill>
              </a:rPr>
              <a:t>Job Portal for University Students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dk1"/>
                </a:solidFill>
              </a:rPr>
              <a:t>Final Presentation | ___ September 2026</a:t>
            </a:r>
          </a:p>
        </p:txBody>
      </p:sp>
      <p:pic>
        <p:nvPicPr>
          <p:cNvPr id="49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f80c2942d4a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8300" y="3850346"/>
            <a:ext cx="975362" cy="9479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75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4" name="Google Shape;494;p61">
            <a:extLst xmlns:a="http://schemas.openxmlformats.org/drawingml/2006/main">
              <a:ext uri="{FF2B5EF4-FFF2-40B4-BE49-F238E27FC236}">
                <a16:creationId xmlns:a16="http://schemas.microsoft.com/office/drawing/2014/main" id="{F27BAC63-C975-4D58-BEA5-9A5EA0F46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16250" y="400652"/>
            <a:ext cx="4711500" cy="7518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Final Project Presentation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Project Details</a:t>
            </a:r>
          </a:p>
        </p:txBody>
      </p:sp>
      <p:sp>
        <p:nvSpPr>
          <p:cNvPr id="495" name="Google Shape;495;p61">
            <a:extLst xmlns:a="http://schemas.openxmlformats.org/drawingml/2006/main">
              <a:ext uri="{FF2B5EF4-FFF2-40B4-BE49-F238E27FC236}">
                <a16:creationId xmlns:a16="http://schemas.microsoft.com/office/drawing/2014/main" id="{B2678F99-0DC9-42F1-8A31-0378DD2D20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50" y="1272925"/>
            <a:ext cx="7717500" cy="32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71450" indent="-171450">
              <a:buNone/>
            </a:pPr>
            <a:r>
              <a:rPr>
                <a:solidFill>
                  <a:schemeClr val="dk1"/>
                </a:solidFill>
              </a:rPr>
              <a:t>Project: Job Portal for University Students</a:t>
            </a:r>
          </a:p>
          <a:p xmlns:a="http://schemas.openxmlformats.org/drawingml/2006/main">
            <a:pPr marL="171450" indent="-171450">
              <a:buNone/>
            </a:pPr>
            <a:r>
              <a:t/>
            </a:r>
          </a:p>
          <a:p xmlns:a="http://schemas.openxmlformats.org/drawingml/2006/main">
            <a:pPr marL="171450" indent="-171450">
              <a:buNone/>
            </a:pPr>
            <a:r>
              <a:rPr>
                <a:solidFill>
                  <a:schemeClr val="dk1"/>
                </a:solidFill>
              </a:rPr>
              <a:t>Area: Web development and relational information systems</a:t>
            </a:r>
          </a:p>
          <a:p xmlns:a="http://schemas.openxmlformats.org/drawingml/2006/main">
            <a:pPr marL="171450" indent="-171450">
              <a:buNone/>
            </a:pPr>
            <a:r>
              <a:t/>
            </a:r>
          </a:p>
          <a:p xmlns:a="http://schemas.openxmlformats.org/drawingml/2006/main">
            <a:pPr marL="171450" indent="-171450">
              <a:buNone/>
            </a:pPr>
            <a:r>
              <a:t>Project Members</a:t>
            </a:r>
          </a:p>
          <a:p xmlns:a="http://schemas.openxmlformats.org/drawingml/2006/main">
            <a:pPr marL="171450" indent="-171450">
              <a:lnSpc>
                <a:spcPct val="150000"/>
              </a:lnSpc>
              <a:buNone/>
            </a:pPr>
            <a:r>
              <a:rPr>
                <a:solidFill>
                  <a:schemeClr val="dk1"/>
                </a:solidFill>
              </a:rPr>
              <a:t>Pyae Phyo Maung (2023-MIIT-CSE-013)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b="1">
                <a:solidFill>
                  <a:schemeClr val="dk1"/>
                </a:solidFill>
              </a:rPr>
              <a:t>Min Thant Zin (2023-MIIT-CSE-027)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b="1">
                <a:solidFill>
                  <a:schemeClr val="dk1"/>
                </a:solidFill>
              </a:rPr>
              <a:t>Than Tun (2023-MIIT-CSE-059)</a:t>
            </a:r>
          </a:p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dk1"/>
                </a:solidFill>
              </a:rPr>
              <a:t/>
            </a:r>
          </a:p>
          <a:p xmlns:a="http://schemas.openxmlformats.org/drawingml/2006/main">
            <a:pPr marL="171450" indent="-171450">
              <a:buNone/>
            </a:pPr>
            <a:r>
              <a:rPr>
                <a:solidFill>
                  <a:schemeClr val="dk1"/>
                </a:solidFill>
              </a:rPr>
              <a:t>Instructor: Dr. Zar Chi Su Hlaing</a:t>
            </a:r>
          </a:p>
          <a:p xmlns:a="http://schemas.openxmlformats.org/drawingml/2006/main">
            <a:pPr marL="171450" indent="-171450">
              <a:buNone/>
            </a:pPr>
            <a:r>
              <a:t>Supervisor: Daw Khin Myat Nwe Win</a:t>
            </a:r>
          </a:p>
          <a:p xmlns:a="http://schemas.openxmlformats.org/drawingml/2006/main">
            <a:pPr marL="171450" indent="-171450">
              <a:buNone/>
            </a:pPr>
            <a:r>
              <a:rPr>
                <a:solidFill>
                  <a:schemeClr val="dk1"/>
                </a:solidFill>
              </a:rPr>
              <a:t/>
            </a:r>
          </a:p>
          <a:p xmlns:a="http://schemas.openxmlformats.org/drawingml/2006/main">
            <a:pPr marL="171450" indent="-171450">
              <a:buNone/>
            </a:pPr>
            <a:r>
              <a:t>Submission: ___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3260355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57684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Presentation Outline</a:t>
            </a:r>
          </a:p>
        </p:txBody>
      </p:sp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B7ACC6-062A-D35E-DC2D-15465368BE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576" y="1184785"/>
            <a:ext cx="8592671" cy="304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Project context:</a:t>
            </a:r>
            <a:r>
              <a:rPr>
                <a:latin typeface="Times New Roman"/>
                <a:ea typeface="Times New Roman"/>
                <a:cs typeface="Times New Roman"/>
              </a:rPr>
              <a:t> Problem, objectives and implemented technology.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Completed features:</a:t>
            </a:r>
            <a:r>
              <a:rPr>
                <a:latin typeface="Times New Roman"/>
                <a:ea typeface="Times New Roman"/>
                <a:cs typeface="Times New Roman"/>
              </a:rPr>
              <a:t> Student, recruiter and administrator workflows.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System design:</a:t>
            </a:r>
            <a:r>
              <a:rPr>
                <a:latin typeface="Times New Roman"/>
                <a:ea typeface="Times New Roman"/>
                <a:cs typeface="Times New Roman"/>
              </a:rPr>
              <a:t> Identity, private documents, architecture and data model.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Final evaluation:</a:t>
            </a:r>
            <a:r>
              <a:rPr>
                <a:latin typeface="Times New Roman"/>
                <a:ea typeface="Times New Roman"/>
                <a:cs typeface="Times New Roman"/>
              </a:rPr>
              <a:t> Tests, deployment, limitations and demonstration screens.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</a:p>
        </p:txBody>
      </p:sp>
    </p:spTree>
    <p:extLst>
      <p:ext uri="{BB962C8B-B14F-4D97-AF65-F5344CB8AC3E}">
        <p14:creationId xmlns:p14="http://schemas.microsoft.com/office/powerpoint/2010/main" val="32227552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57684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Problem and Solution</a:t>
            </a:r>
          </a:p>
        </p:txBody>
      </p:sp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B7ACC6-062A-D35E-DC2D-15465368BE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576" y="1184785"/>
            <a:ext cx="8592671" cy="304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Fragmented opportunities:</a:t>
            </a:r>
            <a:r>
              <a:rPr>
                <a:latin typeface="Times New Roman"/>
                <a:ea typeface="Times New Roman"/>
                <a:cs typeface="Times New Roman"/>
              </a:rPr>
              <a:t> Vacancies were scattered across groups, websites and personal contacts.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Inconsistent applications:</a:t>
            </a:r>
            <a:r>
              <a:rPr>
                <a:latin typeface="Times New Roman"/>
                <a:ea typeface="Times New Roman"/>
                <a:cs typeface="Times New Roman"/>
              </a:rPr>
              <a:t> Students and recruiters lacked a shared submission and status record.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Centralized portal:</a:t>
            </a:r>
            <a:r>
              <a:rPr>
                <a:latin typeface="Times New Roman"/>
                <a:ea typeface="Times New Roman"/>
                <a:cs typeface="Times New Roman"/>
              </a:rPr>
              <a:t> Jobs, profiles, applications and review now use one web application.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Campus focus:</a:t>
            </a:r>
            <a:r>
              <a:rPr>
                <a:latin typeface="Times New Roman"/>
                <a:ea typeface="Times New Roman"/>
                <a:cs typeface="Times New Roman"/>
              </a:rPr>
              <a:t> Computer Science opportunities, with compensation shown in MMK per month.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</a:p>
        </p:txBody>
      </p:sp>
    </p:spTree>
    <p:extLst>
      <p:ext uri="{BB962C8B-B14F-4D97-AF65-F5344CB8AC3E}">
        <p14:creationId xmlns:p14="http://schemas.microsoft.com/office/powerpoint/2010/main" val="32227552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57684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Completed Objectives</a:t>
            </a:r>
          </a:p>
        </p:txBody>
      </p:sp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B7ACC6-062A-D35E-DC2D-15465368BE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576" y="1184785"/>
            <a:ext cx="8592671" cy="304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Job discovery:</a:t>
            </a:r>
            <a:r>
              <a:rPr>
                <a:latin typeface="Times New Roman"/>
                <a:ea typeface="Times New Roman"/>
                <a:cs typeface="Times New Roman"/>
              </a:rPr>
              <a:t> Search, filter and sort internships, part-time, full-time and remote jobs.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Structured profiles:</a:t>
            </a:r>
            <a:r>
              <a:rPr>
                <a:latin typeface="Times New Roman"/>
                <a:ea typeface="Times New Roman"/>
                <a:cs typeface="Times New Roman"/>
              </a:rPr>
              <a:t> Maintain student skills and resumes, plus recruiter and company details.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Controlled recruitment:</a:t>
            </a:r>
            <a:r>
              <a:rPr>
                <a:latin typeface="Times New Roman"/>
                <a:ea typeface="Times New Roman"/>
                <a:cs typeface="Times New Roman"/>
              </a:rPr>
              <a:t> Verify accounts and require recruiter and company approvals.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Application tracking:</a:t>
            </a:r>
            <a:r>
              <a:rPr>
                <a:latin typeface="Times New Roman"/>
                <a:ea typeface="Times New Roman"/>
                <a:cs typeface="Times New Roman"/>
              </a:rPr>
              <a:t> Record submissions, review outcomes, withdrawals and notifications.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</a:p>
        </p:txBody>
      </p:sp>
    </p:spTree>
    <p:extLst>
      <p:ext uri="{BB962C8B-B14F-4D97-AF65-F5344CB8AC3E}">
        <p14:creationId xmlns:p14="http://schemas.microsoft.com/office/powerpoint/2010/main" val="32227552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57684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Technologies Used</a:t>
            </a:r>
          </a:p>
        </p:txBody>
      </p:sp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B7ACC6-062A-D35E-DC2D-15465368BE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576" y="1184785"/>
            <a:ext cx="8592671" cy="304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Frontend:</a:t>
            </a:r>
            <a:r>
              <a:rPr>
                <a:latin typeface="Times New Roman"/>
                <a:ea typeface="Times New Roman"/>
                <a:cs typeface="Times New Roman"/>
              </a:rPr>
              <a:t> React 19, TypeScript, Vite and Tailwind CSS.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Backend:</a:t>
            </a:r>
            <a:r>
              <a:rPr>
                <a:latin typeface="Times New Roman"/>
                <a:ea typeface="Times New Roman"/>
                <a:cs typeface="Times New Roman"/>
              </a:rPr>
              <a:t> Python, Django 5.2 and Django REST Framework.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Identity and data:</a:t>
            </a:r>
            <a:r>
              <a:rPr>
                <a:latin typeface="Times New Roman"/>
                <a:ea typeface="Times New Roman"/>
                <a:cs typeface="Times New Roman"/>
              </a:rPr>
              <a:t> allauth and JWT; SQLite locally, PostgreSQL and private storage configurable.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Hosting and email:</a:t>
            </a:r>
            <a:r>
              <a:rPr>
                <a:latin typeface="Times New Roman"/>
                <a:ea typeface="Times New Roman"/>
                <a:cs typeface="Times New Roman"/>
              </a:rPr>
              <a:t> Cloudflare Worker, Render, and SMTP or Resend HTTPS delivery.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</a:p>
        </p:txBody>
      </p:sp>
    </p:spTree>
    <p:extLst>
      <p:ext uri="{BB962C8B-B14F-4D97-AF65-F5344CB8AC3E}">
        <p14:creationId xmlns:p14="http://schemas.microsoft.com/office/powerpoint/2010/main" val="32227552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57684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Student Features</a:t>
            </a:r>
          </a:p>
        </p:txBody>
      </p:sp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B7ACC6-062A-D35E-DC2D-15465368BE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576" y="1184785"/>
            <a:ext cx="8592671" cy="304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Profile management:</a:t>
            </a:r>
            <a:r>
              <a:rPr>
                <a:latin typeface="Times New Roman"/>
                <a:ea typeface="Times New Roman"/>
                <a:cs typeface="Times New Roman"/>
              </a:rPr>
              <a:t> Name, university, graduation year, skills, biography, experience and photo.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Job discovery:</a:t>
            </a:r>
            <a:r>
              <a:rPr>
                <a:latin typeface="Times New Roman"/>
                <a:ea typeface="Times New Roman"/>
                <a:cs typeface="Times New Roman"/>
              </a:rPr>
              <a:t> Keyword and skill search, job-type filters and compensation ordering.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Applications:</a:t>
            </a:r>
            <a:r>
              <a:rPr>
                <a:latin typeface="Times New Roman"/>
                <a:ea typeface="Times New Roman"/>
                <a:cs typeface="Times New Roman"/>
              </a:rPr>
              <a:t> Choose a saved or uploaded PDF resume and provide required cover letters.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Status tracking:</a:t>
            </a:r>
            <a:r>
              <a:rPr>
                <a:latin typeface="Times New Roman"/>
                <a:ea typeface="Times New Roman"/>
                <a:cs typeface="Times New Roman"/>
              </a:rPr>
              <a:t> View application history and notifications; withdraw eligible applications.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</a:p>
        </p:txBody>
      </p:sp>
    </p:spTree>
    <p:extLst>
      <p:ext uri="{BB962C8B-B14F-4D97-AF65-F5344CB8AC3E}">
        <p14:creationId xmlns:p14="http://schemas.microsoft.com/office/powerpoint/2010/main" val="32227552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57684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Recruiter Features</a:t>
            </a:r>
          </a:p>
        </p:txBody>
      </p:sp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B7ACC6-062A-D35E-DC2D-15465368BE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576" y="1184785"/>
            <a:ext cx="8592671" cy="304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Editable profile:</a:t>
            </a:r>
            <a:r>
              <a:rPr>
                <a:latin typeface="Times New Roman"/>
                <a:ea typeface="Times New Roman"/>
                <a:cs typeface="Times New Roman"/>
              </a:rPr>
              <a:t> Update name, job title, phone, biography and profile photo.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Company onboarding:</a:t>
            </a:r>
            <a:r>
              <a:rPr>
                <a:latin typeface="Times New Roman"/>
                <a:ea typeface="Times New Roman"/>
                <a:cs typeface="Times New Roman"/>
              </a:rPr>
              <a:t> Edit company details and logo; view approval or rejection information.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Job management:</a:t>
            </a:r>
            <a:r>
              <a:rPr>
                <a:latin typeface="Times New Roman"/>
                <a:ea typeface="Times New Roman"/>
                <a:cs typeface="Times New Roman"/>
              </a:rPr>
              <a:t> Approved recruiters create, list and delete vacancies, then review applicants.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Talent directory:</a:t>
            </a:r>
            <a:r>
              <a:rPr>
                <a:latin typeface="Times New Roman"/>
                <a:ea typeface="Times New Roman"/>
                <a:cs typeface="Times New Roman"/>
              </a:rPr>
              <a:t> Search active, verified students, including profiles that are incomplete.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</a:p>
        </p:txBody>
      </p:sp>
    </p:spTree>
    <p:extLst>
      <p:ext uri="{BB962C8B-B14F-4D97-AF65-F5344CB8AC3E}">
        <p14:creationId xmlns:p14="http://schemas.microsoft.com/office/powerpoint/2010/main" val="32227552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57684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Administrator Dashboard</a:t>
            </a:r>
          </a:p>
        </p:txBody>
      </p:sp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B7ACC6-062A-D35E-DC2D-15465368BE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576" y="1184785"/>
            <a:ext cx="8592671" cy="304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Dedicated access:</a:t>
            </a:r>
            <a:r>
              <a:rPr>
                <a:latin typeface="Times New Roman"/>
                <a:ea typeface="Times New Roman"/>
                <a:cs typeface="Times New Roman"/>
              </a:rPr>
              <a:t> The /dashboard interface requires an active superuser and a CSRF-protected session.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System overview:</a:t>
            </a:r>
            <a:r>
              <a:rPr>
                <a:latin typeface="Times New Roman"/>
                <a:ea typeface="Times New Roman"/>
                <a:cs typeface="Times New Roman"/>
              </a:rPr>
              <a:t> Counts, application statuses and searchable, filtered, paginated records.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Controlled actions:</a:t>
            </a:r>
            <a:r>
              <a:rPr>
                <a:latin typeface="Times New Roman"/>
                <a:ea typeface="Times New Roman"/>
                <a:cs typeface="Times New Roman"/>
              </a:rPr>
              <a:t> Verify ordinary users and approve recruiters and companies separately.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Account safeguards:</a:t>
            </a:r>
            <a:r>
              <a:rPr>
                <a:latin typeface="Times New Roman"/>
                <a:ea typeface="Times New Roman"/>
                <a:cs typeface="Times New Roman"/>
              </a:rPr>
              <a:t> Email-confirmed deletion, protected admin accounts and action logs.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</a:p>
        </p:txBody>
      </p:sp>
    </p:spTree>
    <p:extLst>
      <p:ext uri="{BB962C8B-B14F-4D97-AF65-F5344CB8AC3E}">
        <p14:creationId xmlns:p14="http://schemas.microsoft.com/office/powerpoint/2010/main" val="32227552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57684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Email Verification</a:t>
            </a:r>
          </a:p>
        </p:txBody>
      </p:sp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B7ACC6-062A-D35E-DC2D-15465368BE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576" y="1184785"/>
            <a:ext cx="8592671" cy="304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Six-digit code:</a:t>
            </a:r>
            <a:r>
              <a:rPr>
                <a:latin typeface="Times New Roman"/>
                <a:ea typeface="Times New Roman"/>
                <a:cs typeface="Times New Roman"/>
              </a:rPr>
              <a:t> Email verification now uses a code; confirming email does not approve a company.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Expiry and limits:</a:t>
            </a:r>
            <a:r>
              <a:rPr>
                <a:latin typeface="Times New Roman"/>
                <a:ea typeface="Times New Roman"/>
                <a:cs typeface="Times New Roman"/>
              </a:rPr>
              <a:t> Ten-minute validity, sixty-second resend cooldown and five incorrect attempts.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Safe replacement:</a:t>
            </a:r>
            <a:r>
              <a:rPr>
                <a:latin typeface="Times New Roman"/>
                <a:ea typeface="Times New Roman"/>
                <a:cs typeface="Times New Roman"/>
              </a:rPr>
              <a:t> Codes are hashed, consumed after success and replaced on resend.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Recovery:</a:t>
            </a:r>
            <a:r>
              <a:rPr>
                <a:latin typeface="Times New Roman"/>
                <a:ea typeface="Times New Roman"/>
                <a:cs typeface="Times New Roman"/>
              </a:rPr>
              <a:t> Password reset still uses an expiring tokenized link; delivery failures are handled.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</a:p>
        </p:txBody>
      </p:sp>
    </p:spTree>
    <p:extLst>
      <p:ext uri="{BB962C8B-B14F-4D97-AF65-F5344CB8AC3E}">
        <p14:creationId xmlns:p14="http://schemas.microsoft.com/office/powerpoint/2010/main" val="32227552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57684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Private Documents</a:t>
            </a:r>
          </a:p>
        </p:txBody>
      </p:sp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B7ACC6-062A-D35E-DC2D-15465368BE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576" y="1184785"/>
            <a:ext cx="8592671" cy="304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Upload validation:</a:t>
            </a:r>
            <a:r>
              <a:rPr>
                <a:latin typeface="Times New Roman"/>
                <a:ea typeface="Times New Roman"/>
                <a:cs typeface="Times New Roman"/>
              </a:rPr>
              <a:t> PDF resumes up to 5 MB; JPEG, PNG and WebP profile images up to 2 MB.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Submission snapshots:</a:t>
            </a:r>
            <a:r>
              <a:rPr>
                <a:latin typeface="Times New Roman"/>
                <a:ea typeface="Times New Roman"/>
                <a:cs typeface="Times New Roman"/>
              </a:rPr>
              <a:t> Each application keeps its submitted resume when the profile is updated.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Protected downloads:</a:t>
            </a:r>
            <a:r>
              <a:rPr>
                <a:latin typeface="Times New Roman"/>
                <a:ea typeface="Times New Roman"/>
                <a:cs typeface="Times New Roman"/>
              </a:rPr>
              <a:t> Permissions are checked; PDF responses use private, no-store caching.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Integrity rules:</a:t>
            </a:r>
            <a:r>
              <a:rPr>
                <a:latin typeface="Times New Roman"/>
                <a:ea typeface="Times New Roman"/>
                <a:cs typeface="Times New Roman"/>
              </a:rPr>
              <a:t> Duplicate student–job applications are rejected; missing files return not found.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</a:p>
        </p:txBody>
      </p:sp>
    </p:spTree>
    <p:extLst>
      <p:ext uri="{BB962C8B-B14F-4D97-AF65-F5344CB8AC3E}">
        <p14:creationId xmlns:p14="http://schemas.microsoft.com/office/powerpoint/2010/main" val="32227552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57684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Interface and Notifications</a:t>
            </a:r>
          </a:p>
        </p:txBody>
      </p:sp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B7ACC6-062A-D35E-DC2D-15465368BE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576" y="1184785"/>
            <a:ext cx="8592671" cy="304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Light and dark themes:</a:t>
            </a:r>
            <a:r>
              <a:rPr>
                <a:latin typeface="Times New Roman"/>
                <a:ea typeface="Times New Roman"/>
                <a:cs typeface="Times New Roman"/>
              </a:rPr>
              <a:t> The browser remembers the selected display preference.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Delayed server notice:</a:t>
            </a:r>
            <a:r>
              <a:rPr>
                <a:latin typeface="Times New Roman"/>
                <a:ea typeface="Times New Roman"/>
                <a:cs typeface="Times New Roman"/>
              </a:rPr>
              <a:t> A message appears after eight seconds of waiting and clears after slow requests.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Private event history:</a:t>
            </a:r>
            <a:r>
              <a:rPr>
                <a:latin typeface="Times New Roman"/>
                <a:ea typeface="Times New Roman"/>
                <a:cs typeface="Times New Roman"/>
              </a:rPr>
              <a:t> Applications and approval reviews generate recipient-scoped notifications.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Account isolation:</a:t>
            </a:r>
            <a:r>
              <a:rPr>
                <a:latin typeface="Times New Roman"/>
                <a:ea typeface="Times New Roman"/>
                <a:cs typeface="Times New Roman"/>
              </a:rPr>
              <a:t> Changing accounts clears notification state and cancels stale requests.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</a:p>
        </p:txBody>
      </p:sp>
    </p:spTree>
    <p:extLst>
      <p:ext uri="{BB962C8B-B14F-4D97-AF65-F5344CB8AC3E}">
        <p14:creationId xmlns:p14="http://schemas.microsoft.com/office/powerpoint/2010/main" val="322275525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18448" y="439529"/>
            <a:ext cx="2886719" cy="8062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/>
              <a:t>Architecture</a:t>
            </a:r>
          </a:p>
        </p:txBody>
      </p:sp>
      <p:sp>
        <p:nvSpPr>
          <p:cNvPr id="1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8402490-02D8-4FE9-BDB4-6E148F45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19" y="1306827"/>
            <a:ext cx="2453796" cy="2015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vert="horz" wrap="square" lIns="91440" tIns="45720" rIns="91440" bIns="45720" anchor="ctr">
            <a:spAutoFit/>
          </a:bodyPr>
          <a:lstStyle xmlns:a="http://schemas.openxmlformats.org/drawingml/2006/main">
            <a:lvl1pPr marL="45720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2pPr>
            <a:lvl3pPr marL="1371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3pPr>
            <a:lvl4pPr marL="1828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4pPr>
            <a:lvl5pPr marL="22860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5pPr>
            <a:lvl6pPr marL="27432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6pPr>
            <a:lvl7pPr marL="3200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7pPr>
            <a:lvl8pPr marL="3657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8pPr>
            <a:lvl9pPr marL="4114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Insert diagram here</a:t>
            </a:r>
          </a:p>
        </p:txBody>
      </p:sp>
    </p:spTree>
    <p:extLst>
      <p:ext uri="{BB962C8B-B14F-4D97-AF65-F5344CB8AC3E}">
        <p14:creationId xmlns:p14="http://schemas.microsoft.com/office/powerpoint/2010/main" val="80959080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18448" y="439529"/>
            <a:ext cx="2886719" cy="8062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/>
              <a:t>Data Model</a:t>
            </a:r>
          </a:p>
        </p:txBody>
      </p:sp>
      <p:sp>
        <p:nvSpPr>
          <p:cNvPr id="1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8402490-02D8-4FE9-BDB4-6E148F45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19" y="1306827"/>
            <a:ext cx="2453796" cy="2015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vert="horz" wrap="square" lIns="91440" tIns="45720" rIns="91440" bIns="45720" anchor="ctr">
            <a:spAutoFit/>
          </a:bodyPr>
          <a:lstStyle xmlns:a="http://schemas.openxmlformats.org/drawingml/2006/main">
            <a:lvl1pPr marL="45720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2pPr>
            <a:lvl3pPr marL="1371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3pPr>
            <a:lvl4pPr marL="1828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4pPr>
            <a:lvl5pPr marL="22860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5pPr>
            <a:lvl6pPr marL="27432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6pPr>
            <a:lvl7pPr marL="3200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7pPr>
            <a:lvl8pPr marL="3657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8pPr>
            <a:lvl9pPr marL="4114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Insert diagram here</a:t>
            </a:r>
          </a:p>
        </p:txBody>
      </p:sp>
    </p:spTree>
    <p:extLst>
      <p:ext uri="{BB962C8B-B14F-4D97-AF65-F5344CB8AC3E}">
        <p14:creationId xmlns:p14="http://schemas.microsoft.com/office/powerpoint/2010/main" val="80959080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18448" y="439529"/>
            <a:ext cx="2886719" cy="8062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/>
              <a:t>Workflow</a:t>
            </a:r>
          </a:p>
        </p:txBody>
      </p:sp>
      <p:sp>
        <p:nvSpPr>
          <p:cNvPr id="1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8402490-02D8-4FE9-BDB4-6E148F45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19" y="1306827"/>
            <a:ext cx="2453796" cy="2015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vert="horz" wrap="square" lIns="91440" tIns="45720" rIns="91440" bIns="45720" anchor="ctr">
            <a:spAutoFit/>
          </a:bodyPr>
          <a:lstStyle xmlns:a="http://schemas.openxmlformats.org/drawingml/2006/main">
            <a:lvl1pPr marL="45720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2pPr>
            <a:lvl3pPr marL="1371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3pPr>
            <a:lvl4pPr marL="1828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4pPr>
            <a:lvl5pPr marL="22860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5pPr>
            <a:lvl6pPr marL="27432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6pPr>
            <a:lvl7pPr marL="3200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7pPr>
            <a:lvl8pPr marL="3657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8pPr>
            <a:lvl9pPr marL="4114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Insert diagram here</a:t>
            </a:r>
          </a:p>
        </p:txBody>
      </p:sp>
    </p:spTree>
    <p:extLst>
      <p:ext uri="{BB962C8B-B14F-4D97-AF65-F5344CB8AC3E}">
        <p14:creationId xmlns:p14="http://schemas.microsoft.com/office/powerpoint/2010/main" val="80959080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57684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Testing and Results</a:t>
            </a:r>
          </a:p>
        </p:txBody>
      </p:sp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B7ACC6-062A-D35E-DC2D-15465368BE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576" y="1184785"/>
            <a:ext cx="8592671" cy="304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79 backend tests:</a:t>
            </a:r>
            <a:r>
              <a:rPr>
                <a:latin typeface="Times New Roman"/>
                <a:ea typeface="Times New Roman"/>
                <a:cs typeface="Times New Roman"/>
              </a:rPr>
              <a:t> Passed for accounts, permissions, profiles, applications, files and administration.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14 JavaScript tests:</a:t>
            </a:r>
            <a:r>
              <a:rPr>
                <a:latin typeface="Times New Roman"/>
                <a:ea typeface="Times New Roman"/>
                <a:cs typeface="Times New Roman"/>
              </a:rPr>
              <a:t> Eight frontend logic checks and six Cloudflare Worker checks passed.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Build verification:</a:t>
            </a:r>
            <a:r>
              <a:rPr>
                <a:latin typeface="Times New Roman"/>
                <a:ea typeface="Times New Roman"/>
                <a:cs typeface="Times New Roman"/>
              </a:rPr>
              <a:t> Browser and Worker TypeScript checks, Vite build and Django checks passed.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Evidence boundary:</a:t>
            </a:r>
            <a:r>
              <a:rPr>
                <a:latin typeface="Times New Roman"/>
                <a:ea typeface="Times New Roman"/>
                <a:cs typeface="Times New Roman"/>
              </a:rPr>
              <a:t> 93 tests passed on 20 September 2026; this is not a coverage percentage.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</a:p>
        </p:txBody>
      </p:sp>
    </p:spTree>
    <p:extLst>
      <p:ext uri="{BB962C8B-B14F-4D97-AF65-F5344CB8AC3E}">
        <p14:creationId xmlns:p14="http://schemas.microsoft.com/office/powerpoint/2010/main" val="322275525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57684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Deployment Setup</a:t>
            </a:r>
          </a:p>
        </p:txBody>
      </p:sp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B7ACC6-062A-D35E-DC2D-15465368BE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576" y="1184785"/>
            <a:ext cx="8592671" cy="304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Cloudflare frontend:</a:t>
            </a:r>
            <a:r>
              <a:rPr>
                <a:latin typeface="Times New Roman"/>
                <a:ea typeface="Times New Roman"/>
                <a:cs typeface="Times New Roman"/>
              </a:rPr>
              <a:t> Built React assets and a same-origin proxy forward backend requests.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Render backend:</a:t>
            </a:r>
            <a:r>
              <a:rPr>
                <a:latin typeface="Times New Roman"/>
                <a:ea typeface="Times New Roman"/>
                <a:cs typeface="Times New Roman"/>
              </a:rPr>
              <a:t> Django serves the API with configured hosts, trusted origins and private responses.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External services:</a:t>
            </a:r>
            <a:r>
              <a:rPr>
                <a:latin typeface="Times New Roman"/>
                <a:ea typeface="Times New Roman"/>
                <a:cs typeface="Times New Roman"/>
              </a:rPr>
              <a:t> Persistent database/storage, email settings and Google credentials are configured separately.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Operational checks:</a:t>
            </a:r>
            <a:r>
              <a:rPr>
                <a:latin typeface="Times New Roman"/>
                <a:ea typeface="Times New Roman"/>
                <a:cs typeface="Times New Roman"/>
              </a:rPr>
              <a:t> Verify live login, email delivery, protected files, backups and service availability.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</a:p>
        </p:txBody>
      </p:sp>
    </p:spTree>
    <p:extLst>
      <p:ext uri="{BB962C8B-B14F-4D97-AF65-F5344CB8AC3E}">
        <p14:creationId xmlns:p14="http://schemas.microsoft.com/office/powerpoint/2010/main" val="322275525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57684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Challenges Addressed</a:t>
            </a:r>
          </a:p>
        </p:txBody>
      </p:sp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B7ACC6-062A-D35E-DC2D-15465368BE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576" y="1184785"/>
            <a:ext cx="8592671" cy="304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Role boundaries:</a:t>
            </a:r>
            <a:r>
              <a:rPr>
                <a:latin typeface="Times New Roman"/>
                <a:ea typeface="Times New Roman"/>
                <a:cs typeface="Times New Roman"/>
              </a:rPr>
              <a:t> Separate verified students, approved recruiters and superuser administration.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Email failures:</a:t>
            </a:r>
            <a:r>
              <a:rPr>
                <a:latin typeface="Times New Roman"/>
                <a:ea typeface="Times New Roman"/>
                <a:cs typeface="Times New Roman"/>
              </a:rPr>
              <a:t> Rollback failed registrations and preserve the old challenge if resend fails.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Document consistency:</a:t>
            </a:r>
            <a:r>
              <a:rPr>
                <a:latin typeface="Times New Roman"/>
                <a:ea typeface="Times New Roman"/>
                <a:cs typeface="Times New Roman"/>
              </a:rPr>
              <a:t> Keep application snapshots stable and prevent unauthenticated resume access.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Hosting integration:</a:t>
            </a:r>
            <a:r>
              <a:rPr>
                <a:latin typeface="Times New Roman"/>
                <a:ea typeface="Times New Roman"/>
                <a:cs typeface="Times New Roman"/>
              </a:rPr>
              <a:t> Preserve cookies and request bodies through the Worker proxy and avoid private caching.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</a:p>
        </p:txBody>
      </p:sp>
    </p:spTree>
    <p:extLst>
      <p:ext uri="{BB962C8B-B14F-4D97-AF65-F5344CB8AC3E}">
        <p14:creationId xmlns:p14="http://schemas.microsoft.com/office/powerpoint/2010/main" val="322275525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57684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Future Enhancements</a:t>
            </a:r>
          </a:p>
        </p:txBody>
      </p:sp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B7ACC6-062A-D35E-DC2D-15465368BE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576" y="1184785"/>
            <a:ext cx="8592671" cy="304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Vacancy lifecycle:</a:t>
            </a:r>
            <a:r>
              <a:rPr>
                <a:latin typeface="Times New Roman"/>
                <a:ea typeface="Times New Roman"/>
                <a:cs typeface="Times New Roman"/>
              </a:rPr>
              <a:t> Add frontend job editing, closing dates and archiving that retains application history.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Organization support:</a:t>
            </a:r>
            <a:r>
              <a:rPr>
                <a:latin typeface="Times New Roman"/>
                <a:ea typeface="Times New Roman"/>
                <a:cs typeface="Times New Roman"/>
              </a:rPr>
              <a:t> Allow multiple hiring staff per company and additional industries.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Student preferences:</a:t>
            </a:r>
            <a:r>
              <a:rPr>
                <a:latin typeface="Times New Roman"/>
                <a:ea typeface="Times New Roman"/>
                <a:cs typeface="Times New Roman"/>
              </a:rPr>
              <a:t> Add directory visibility controls and configurable notifications.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Further evaluation:</a:t>
            </a:r>
            <a:r>
              <a:rPr>
                <a:latin typeface="Times New Roman"/>
                <a:ea typeface="Times New Roman"/>
                <a:cs typeface="Times New Roman"/>
              </a:rPr>
              <a:t> Run browser, accessibility, user-acceptance and load tests; explore explainable recommendations.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</a:p>
        </p:txBody>
      </p:sp>
    </p:spTree>
    <p:extLst>
      <p:ext uri="{BB962C8B-B14F-4D97-AF65-F5344CB8AC3E}">
        <p14:creationId xmlns:p14="http://schemas.microsoft.com/office/powerpoint/2010/main" val="322275525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57684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Final Conclusion</a:t>
            </a:r>
          </a:p>
        </p:txBody>
      </p:sp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B7ACC6-062A-D35E-DC2D-15465368BE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576" y="1184785"/>
            <a:ext cx="8592671" cy="304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Completed workflow:</a:t>
            </a:r>
            <a:r>
              <a:rPr>
                <a:latin typeface="Times New Roman"/>
                <a:ea typeface="Times New Roman"/>
                <a:cs typeface="Times New Roman"/>
              </a:rPr>
              <a:t> Students discover jobs and track applications; recruiters publish and review.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Administrative oversight:</a:t>
            </a:r>
            <a:r>
              <a:rPr>
                <a:latin typeface="Times New Roman"/>
                <a:ea typeface="Times New Roman"/>
                <a:cs typeface="Times New Roman"/>
              </a:rPr>
              <a:t> Account verification and separate recruiter/company approval control access.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Updated implementation:</a:t>
            </a:r>
            <a:r>
              <a:rPr>
                <a:latin typeface="Times New Roman"/>
                <a:ea typeface="Times New Roman"/>
                <a:cs typeface="Times New Roman"/>
              </a:rPr>
              <a:t> Profiles, private files, notifications, themes and hosting support are integrated.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Verified foundation:</a:t>
            </a:r>
            <a:r>
              <a:rPr>
                <a:latin typeface="Times New Roman"/>
                <a:ea typeface="Times New Roman"/>
                <a:cs typeface="Times New Roman"/>
              </a:rPr>
              <a:t> 93 automated tests pass; production operation and user acceptance need further evaluation.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</a:p>
        </p:txBody>
      </p:sp>
    </p:spTree>
    <p:extLst>
      <p:ext uri="{BB962C8B-B14F-4D97-AF65-F5344CB8AC3E}">
        <p14:creationId xmlns:p14="http://schemas.microsoft.com/office/powerpoint/2010/main" val="322275525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18448" y="439529"/>
            <a:ext cx="2886719" cy="8062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/>
              <a:t>Student UI</a:t>
            </a:r>
          </a:p>
        </p:txBody>
      </p:sp>
      <p:sp>
        <p:nvSpPr>
          <p:cNvPr id="1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8402490-02D8-4FE9-BDB4-6E148F45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19" y="1306827"/>
            <a:ext cx="2453796" cy="2015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vert="horz" wrap="square" lIns="91440" tIns="45720" rIns="91440" bIns="45720" anchor="ctr">
            <a:spAutoFit/>
          </a:bodyPr>
          <a:lstStyle xmlns:a="http://schemas.openxmlformats.org/drawingml/2006/main">
            <a:lvl1pPr marL="45720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2pPr>
            <a:lvl3pPr marL="1371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3pPr>
            <a:lvl4pPr marL="1828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4pPr>
            <a:lvl5pPr marL="22860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5pPr>
            <a:lvl6pPr marL="27432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6pPr>
            <a:lvl7pPr marL="3200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7pPr>
            <a:lvl8pPr marL="3657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8pPr>
            <a:lvl9pPr marL="4114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Insert screenshot here</a:t>
            </a:r>
          </a:p>
        </p:txBody>
      </p:sp>
    </p:spTree>
    <p:extLst>
      <p:ext uri="{BB962C8B-B14F-4D97-AF65-F5344CB8AC3E}">
        <p14:creationId xmlns:p14="http://schemas.microsoft.com/office/powerpoint/2010/main" val="80959080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18448" y="439529"/>
            <a:ext cx="2886719" cy="8062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/>
              <a:t>Recruiter UI</a:t>
            </a:r>
          </a:p>
        </p:txBody>
      </p:sp>
      <p:sp>
        <p:nvSpPr>
          <p:cNvPr id="1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8402490-02D8-4FE9-BDB4-6E148F45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19" y="1306827"/>
            <a:ext cx="2453796" cy="2015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vert="horz" wrap="square" lIns="91440" tIns="45720" rIns="91440" bIns="45720" anchor="ctr">
            <a:spAutoFit/>
          </a:bodyPr>
          <a:lstStyle xmlns:a="http://schemas.openxmlformats.org/drawingml/2006/main">
            <a:lvl1pPr marL="45720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2pPr>
            <a:lvl3pPr marL="1371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3pPr>
            <a:lvl4pPr marL="1828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4pPr>
            <a:lvl5pPr marL="22860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5pPr>
            <a:lvl6pPr marL="27432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6pPr>
            <a:lvl7pPr marL="3200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7pPr>
            <a:lvl8pPr marL="3657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8pPr>
            <a:lvl9pPr marL="4114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Insert screenshot here</a:t>
            </a:r>
          </a:p>
        </p:txBody>
      </p:sp>
    </p:spTree>
    <p:extLst>
      <p:ext uri="{BB962C8B-B14F-4D97-AF65-F5344CB8AC3E}">
        <p14:creationId xmlns:p14="http://schemas.microsoft.com/office/powerpoint/2010/main" val="80959080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18448" y="439529"/>
            <a:ext cx="2886719" cy="8062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/>
              <a:t>Admin UI</a:t>
            </a:r>
          </a:p>
        </p:txBody>
      </p:sp>
      <p:sp>
        <p:nvSpPr>
          <p:cNvPr id="1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8402490-02D8-4FE9-BDB4-6E148F45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19" y="1306827"/>
            <a:ext cx="2453796" cy="2015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vert="horz" wrap="square" lIns="91440" tIns="45720" rIns="91440" bIns="45720" anchor="ctr">
            <a:spAutoFit/>
          </a:bodyPr>
          <a:lstStyle xmlns:a="http://schemas.openxmlformats.org/drawingml/2006/main">
            <a:lvl1pPr marL="45720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2pPr>
            <a:lvl3pPr marL="1371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3pPr>
            <a:lvl4pPr marL="1828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4pPr>
            <a:lvl5pPr marL="22860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5pPr>
            <a:lvl6pPr marL="27432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6pPr>
            <a:lvl7pPr marL="3200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7pPr>
            <a:lvl8pPr marL="3657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8pPr>
            <a:lvl9pPr marL="4114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Insert screenshot here</a:t>
            </a:r>
          </a:p>
        </p:txBody>
      </p:sp>
    </p:spTree>
    <p:extLst>
      <p:ext uri="{BB962C8B-B14F-4D97-AF65-F5344CB8AC3E}">
        <p14:creationId xmlns:p14="http://schemas.microsoft.com/office/powerpoint/2010/main" val="80959080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18448" y="439529"/>
            <a:ext cx="2886719" cy="8062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/>
              <a:t>Verification</a:t>
            </a:r>
          </a:p>
        </p:txBody>
      </p:sp>
      <p:sp>
        <p:nvSpPr>
          <p:cNvPr id="1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8402490-02D8-4FE9-BDB4-6E148F45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19" y="1306827"/>
            <a:ext cx="2453796" cy="2015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vert="horz" wrap="square" lIns="91440" tIns="45720" rIns="91440" bIns="45720" anchor="ctr">
            <a:spAutoFit/>
          </a:bodyPr>
          <a:lstStyle xmlns:a="http://schemas.openxmlformats.org/drawingml/2006/main">
            <a:lvl1pPr marL="45720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2pPr>
            <a:lvl3pPr marL="1371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3pPr>
            <a:lvl4pPr marL="1828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4pPr>
            <a:lvl5pPr marL="22860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5pPr>
            <a:lvl6pPr marL="27432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6pPr>
            <a:lvl7pPr marL="3200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7pPr>
            <a:lvl8pPr marL="3657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8pPr>
            <a:lvl9pPr marL="4114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Insert screenshot here</a:t>
            </a:r>
          </a:p>
        </p:txBody>
      </p:sp>
    </p:spTree>
    <p:extLst>
      <p:ext uri="{BB962C8B-B14F-4D97-AF65-F5344CB8AC3E}">
        <p14:creationId xmlns:p14="http://schemas.microsoft.com/office/powerpoint/2010/main" val="80959080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18448" y="439529"/>
            <a:ext cx="2886719" cy="8062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/>
              <a:t>Talent Search</a:t>
            </a:r>
          </a:p>
        </p:txBody>
      </p:sp>
      <p:sp>
        <p:nvSpPr>
          <p:cNvPr id="1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8402490-02D8-4FE9-BDB4-6E148F45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19" y="1306827"/>
            <a:ext cx="2453796" cy="2015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vert="horz" wrap="square" lIns="91440" tIns="45720" rIns="91440" bIns="45720" anchor="ctr">
            <a:spAutoFit/>
          </a:bodyPr>
          <a:lstStyle xmlns:a="http://schemas.openxmlformats.org/drawingml/2006/main">
            <a:lvl1pPr marL="45720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2pPr>
            <a:lvl3pPr marL="1371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3pPr>
            <a:lvl4pPr marL="1828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4pPr>
            <a:lvl5pPr marL="22860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5pPr>
            <a:lvl6pPr marL="27432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6pPr>
            <a:lvl7pPr marL="3200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7pPr>
            <a:lvl8pPr marL="3657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8pPr>
            <a:lvl9pPr marL="4114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Insert screenshot here</a:t>
            </a:r>
          </a:p>
        </p:txBody>
      </p:sp>
    </p:spTree>
    <p:extLst>
      <p:ext uri="{BB962C8B-B14F-4D97-AF65-F5344CB8AC3E}">
        <p14:creationId xmlns:p14="http://schemas.microsoft.com/office/powerpoint/2010/main" val="80959080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18448" y="439529"/>
            <a:ext cx="2886719" cy="8062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/>
              <a:t>Profile Editor</a:t>
            </a:r>
          </a:p>
        </p:txBody>
      </p:sp>
      <p:sp>
        <p:nvSpPr>
          <p:cNvPr id="1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8402490-02D8-4FE9-BDB4-6E148F45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19" y="1306827"/>
            <a:ext cx="2453796" cy="2015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vert="horz" wrap="square" lIns="91440" tIns="45720" rIns="91440" bIns="45720" anchor="ctr">
            <a:spAutoFit/>
          </a:bodyPr>
          <a:lstStyle xmlns:a="http://schemas.openxmlformats.org/drawingml/2006/main">
            <a:lvl1pPr marL="45720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2pPr>
            <a:lvl3pPr marL="1371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3pPr>
            <a:lvl4pPr marL="1828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4pPr>
            <a:lvl5pPr marL="22860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5pPr>
            <a:lvl6pPr marL="27432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6pPr>
            <a:lvl7pPr marL="3200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7pPr>
            <a:lvl8pPr marL="3657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8pPr>
            <a:lvl9pPr marL="4114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Insert screenshot here</a:t>
            </a:r>
          </a:p>
        </p:txBody>
      </p:sp>
    </p:spTree>
    <p:extLst>
      <p:ext uri="{BB962C8B-B14F-4D97-AF65-F5344CB8AC3E}">
        <p14:creationId xmlns:p14="http://schemas.microsoft.com/office/powerpoint/2010/main" val="80959080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553;p66">
            <a:extLst xmlns:a="http://schemas.openxmlformats.org/drawingml/2006/main">
              <a:ext uri="{FF2B5EF4-FFF2-40B4-BE49-F238E27FC236}">
                <a16:creationId xmlns:a16="http://schemas.microsoft.com/office/drawing/2014/main" id="{85F89646-E2C9-D4BA-7589-3F53A5F7B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57684"/>
            <a:ext cx="56799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Project References</a:t>
            </a:r>
          </a:p>
        </p:txBody>
      </p:sp>
      <p:sp>
        <p:nvSpPr>
          <p:cNvPr id="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B7ACC6-062A-D35E-DC2D-15465368BE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7576" y="1184785"/>
            <a:ext cx="8592671" cy="304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Primary evidence:</a:t>
            </a:r>
            <a:r>
              <a:rPr>
                <a:latin typeface="Times New Roman"/>
                <a:ea typeface="Times New Roman"/>
                <a:cs typeface="Times New Roman"/>
              </a:rPr>
              <a:t> Supplied midterm slides and report; current project source and automated tests.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Final report:</a:t>
            </a:r>
            <a:r>
              <a:rPr>
                <a:latin typeface="Times New Roman"/>
                <a:ea typeface="Times New Roman"/>
                <a:cs typeface="Times New Roman"/>
              </a:rPr>
              <a:t> Updated final project report, reviewed on 20 September 2026.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Framework references:</a:t>
            </a:r>
            <a:r>
              <a:rPr>
                <a:latin typeface="Times New Roman"/>
                <a:ea typeface="Times New Roman"/>
                <a:cs typeface="Times New Roman"/>
              </a:rPr>
              <a:t> Official Django, Django REST Framework, React and TypeScript documentation.</a:t>
            </a:r>
          </a:p>
          <a:p xmlns:a="http://schemas.openxmlformats.org/drawingml/2006/main">
            <a:pPr>
              <a:lnSpc>
                <a:spcPct val="150000"/>
              </a:lnSpc>
              <a:buChar char="•"/>
            </a:pPr>
            <a:r>
              <a:rPr b="1">
                <a:latin typeface="Times New Roman"/>
                <a:ea typeface="Times New Roman"/>
                <a:cs typeface="Times New Roman"/>
              </a:rPr>
              <a:t>Deployment references:</a:t>
            </a:r>
            <a:r>
              <a:rPr>
                <a:latin typeface="Times New Roman"/>
                <a:ea typeface="Times New Roman"/>
                <a:cs typeface="Times New Roman"/>
              </a:rPr>
              <a:t> Official Cloudflare Workers, Render Django and Resend email documentation.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</a:p>
        </p:txBody>
      </p:sp>
    </p:spTree>
    <p:extLst>
      <p:ext uri="{BB962C8B-B14F-4D97-AF65-F5344CB8AC3E}">
        <p14:creationId xmlns:p14="http://schemas.microsoft.com/office/powerpoint/2010/main" val="322275525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1" name="Google Shape;571;p69">
            <a:extLst xmlns:a="http://schemas.openxmlformats.org/drawingml/2006/main">
              <a:ext uri="{FF2B5EF4-FFF2-40B4-BE49-F238E27FC236}">
                <a16:creationId xmlns:a16="http://schemas.microsoft.com/office/drawing/2014/main" id="{8CF8BC86-14E1-4355-9296-15654C2348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67814" y="1817510"/>
            <a:ext cx="7408371" cy="3148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444986755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2026-09-20T14:56:51.9850000Z</dcterms:created>
  <dcterms:modified xsi:type="dcterms:W3CDTF">2026-09-20T14:56:51.9850000Z</dcterms:modified>
</coreProperties>
</file>