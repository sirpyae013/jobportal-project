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ecc9f79d994929" /><Relationship Type="http://schemas.openxmlformats.org/officeDocument/2006/relationships/extended-properties" Target="/docProps/app.xml" Id="R9001105f50e24914" /><Relationship Type="http://schemas.openxmlformats.org/officeDocument/2006/relationships/officeDocument" Target="/ppt/presentation.xml" Id="Rc711ff28af994a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6d448656b648a2"/>
  </p:sldMasterIdLst>
  <p:notesMasterIdLst>
    <p:notesMasterId xmlns:r="http://schemas.openxmlformats.org/officeDocument/2006/relationships" r:id="R865121b874634ffe"/>
  </p:notesMasterIdLst>
  <p:sldIdLst>
    <p:sldId xmlns:r="http://schemas.openxmlformats.org/officeDocument/2006/relationships" id="256" r:id="R9c20bf0f1db34844"/>
    <p:sldId xmlns:r="http://schemas.openxmlformats.org/officeDocument/2006/relationships" id="257" r:id="R536a0591e3094c4e"/>
    <p:sldId xmlns:r="http://schemas.openxmlformats.org/officeDocument/2006/relationships" id="258" r:id="R4bd2a647a0c34750"/>
    <p:sldId xmlns:r="http://schemas.openxmlformats.org/officeDocument/2006/relationships" id="259" r:id="R59b36b8556564c9d"/>
    <p:sldId xmlns:r="http://schemas.openxmlformats.org/officeDocument/2006/relationships" id="260" r:id="Rfafbb7558ed24b87"/>
    <p:sldId xmlns:r="http://schemas.openxmlformats.org/officeDocument/2006/relationships" id="261" r:id="R6571759ab3fa44cb"/>
    <p:sldId xmlns:r="http://schemas.openxmlformats.org/officeDocument/2006/relationships" id="262" r:id="R500190c992a94e73"/>
    <p:sldId xmlns:r="http://schemas.openxmlformats.org/officeDocument/2006/relationships" id="263" r:id="R9803df7c983b4716"/>
    <p:sldId xmlns:r="http://schemas.openxmlformats.org/officeDocument/2006/relationships" id="264" r:id="Rb1e1d674e01e4fcc"/>
    <p:sldId xmlns:r="http://schemas.openxmlformats.org/officeDocument/2006/relationships" id="265" r:id="Rebfa2b430cd84fd2"/>
    <p:sldId xmlns:r="http://schemas.openxmlformats.org/officeDocument/2006/relationships" id="266" r:id="Re70df444b45748c0"/>
    <p:sldId xmlns:r="http://schemas.openxmlformats.org/officeDocument/2006/relationships" id="267" r:id="Rdf7bd97efb1049c0"/>
    <p:sldId xmlns:r="http://schemas.openxmlformats.org/officeDocument/2006/relationships" id="268" r:id="Rbe8b59dfa8494bb2"/>
    <p:sldId xmlns:r="http://schemas.openxmlformats.org/officeDocument/2006/relationships" id="269" r:id="R45a499c37e574713"/>
    <p:sldId xmlns:r="http://schemas.openxmlformats.org/officeDocument/2006/relationships" id="270" r:id="R7877713e3c0e4f6c"/>
    <p:sldId xmlns:r="http://schemas.openxmlformats.org/officeDocument/2006/relationships" id="271" r:id="R33d5d36d0b7b481b"/>
    <p:sldId xmlns:r="http://schemas.openxmlformats.org/officeDocument/2006/relationships" id="272" r:id="R87d3e46d269c4382"/>
    <p:sldId xmlns:r="http://schemas.openxmlformats.org/officeDocument/2006/relationships" id="273" r:id="R6c4a4711dbe94dd3"/>
    <p:sldId xmlns:r="http://schemas.openxmlformats.org/officeDocument/2006/relationships" id="274" r:id="R777f162349d64b0a"/>
    <p:sldId xmlns:r="http://schemas.openxmlformats.org/officeDocument/2006/relationships" id="275" r:id="R2c85ba0973c247f1"/>
    <p:sldId xmlns:r="http://schemas.openxmlformats.org/officeDocument/2006/relationships" id="276" r:id="R512221e7ebd342cb"/>
    <p:sldId xmlns:r="http://schemas.openxmlformats.org/officeDocument/2006/relationships" id="277" r:id="R0d50d9c7d20d48e9"/>
    <p:sldId xmlns:r="http://schemas.openxmlformats.org/officeDocument/2006/relationships" id="278" r:id="Rf8cf321e55d343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d448656b648a2" /><Relationship Type="http://schemas.openxmlformats.org/officeDocument/2006/relationships/theme" Target="/ppt/theme/theme1.xml" Id="Re03288dc1ab24d85" /><Relationship Type="http://schemas.openxmlformats.org/officeDocument/2006/relationships/notesMaster" Target="/ppt/notesMasters/notesMaster1.xml" Id="R865121b874634ffe" /><Relationship Type="http://schemas.openxmlformats.org/officeDocument/2006/relationships/presProps" Target="/ppt/presProps.xml" Id="R2dda9383e5ec4005" /><Relationship Type="http://schemas.openxmlformats.org/officeDocument/2006/relationships/viewProps" Target="/ppt/viewProps.xml" Id="Rc2ae26cbb50445ff" /><Relationship Type="http://schemas.openxmlformats.org/officeDocument/2006/relationships/tableStyles" Target="/ppt/tableStyles.xml" Id="R54e437aba69a4b1c" /><Relationship Type="http://schemas.openxmlformats.org/officeDocument/2006/relationships/slide" Target="/ppt/slides/slide1.xml" Id="R9c20bf0f1db34844" /><Relationship Type="http://schemas.openxmlformats.org/officeDocument/2006/relationships/slide" Target="/ppt/slides/slide2.xml" Id="R536a0591e3094c4e" /><Relationship Type="http://schemas.openxmlformats.org/officeDocument/2006/relationships/slide" Target="/ppt/slides/slide3.xml" Id="R4bd2a647a0c34750" /><Relationship Type="http://schemas.openxmlformats.org/officeDocument/2006/relationships/slide" Target="/ppt/slides/slide4.xml" Id="R59b36b8556564c9d" /><Relationship Type="http://schemas.openxmlformats.org/officeDocument/2006/relationships/slide" Target="/ppt/slides/slide5.xml" Id="Rfafbb7558ed24b87" /><Relationship Type="http://schemas.openxmlformats.org/officeDocument/2006/relationships/slide" Target="/ppt/slides/slide6.xml" Id="R6571759ab3fa44cb" /><Relationship Type="http://schemas.openxmlformats.org/officeDocument/2006/relationships/slide" Target="/ppt/slides/slide7.xml" Id="R500190c992a94e73" /><Relationship Type="http://schemas.openxmlformats.org/officeDocument/2006/relationships/slide" Target="/ppt/slides/slide8.xml" Id="R9803df7c983b4716" /><Relationship Type="http://schemas.openxmlformats.org/officeDocument/2006/relationships/slide" Target="/ppt/slides/slide9.xml" Id="Rb1e1d674e01e4fcc" /><Relationship Type="http://schemas.openxmlformats.org/officeDocument/2006/relationships/slide" Target="/ppt/slides/slide10.xml" Id="Rebfa2b430cd84fd2" /><Relationship Type="http://schemas.openxmlformats.org/officeDocument/2006/relationships/slide" Target="/ppt/slides/slide11.xml" Id="Re70df444b45748c0" /><Relationship Type="http://schemas.openxmlformats.org/officeDocument/2006/relationships/slide" Target="/ppt/slides/slide12.xml" Id="Rdf7bd97efb1049c0" /><Relationship Type="http://schemas.openxmlformats.org/officeDocument/2006/relationships/slide" Target="/ppt/slides/slide13.xml" Id="Rbe8b59dfa8494bb2" /><Relationship Type="http://schemas.openxmlformats.org/officeDocument/2006/relationships/slide" Target="/ppt/slides/slide14.xml" Id="R45a499c37e574713" /><Relationship Type="http://schemas.openxmlformats.org/officeDocument/2006/relationships/slide" Target="/ppt/slides/slide15.xml" Id="R7877713e3c0e4f6c" /><Relationship Type="http://schemas.openxmlformats.org/officeDocument/2006/relationships/slide" Target="/ppt/slides/slide16.xml" Id="R33d5d36d0b7b481b" /><Relationship Type="http://schemas.openxmlformats.org/officeDocument/2006/relationships/slide" Target="/ppt/slides/slide17.xml" Id="R87d3e46d269c4382" /><Relationship Type="http://schemas.openxmlformats.org/officeDocument/2006/relationships/slide" Target="/ppt/slides/slide18.xml" Id="R6c4a4711dbe94dd3" /><Relationship Type="http://schemas.openxmlformats.org/officeDocument/2006/relationships/slide" Target="/ppt/slides/slide19.xml" Id="R777f162349d64b0a" /><Relationship Type="http://schemas.openxmlformats.org/officeDocument/2006/relationships/slide" Target="/ppt/slides/slide20.xml" Id="R2c85ba0973c247f1" /><Relationship Type="http://schemas.openxmlformats.org/officeDocument/2006/relationships/slide" Target="/ppt/slides/slide21.xml" Id="R512221e7ebd342cb" /><Relationship Type="http://schemas.openxmlformats.org/officeDocument/2006/relationships/slide" Target="/ppt/slides/slide22.xml" Id="R0d50d9c7d20d48e9" /><Relationship Type="http://schemas.openxmlformats.org/officeDocument/2006/relationships/slide" Target="/ppt/slides/slide23.xml" Id="Rf8cf321e55d343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9e419de409646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045c15d7ba4081" /><Relationship Type="http://schemas.openxmlformats.org/officeDocument/2006/relationships/notesMaster" Target="/ppt/notesMasters/notesMaster1.xml" Id="R31e3fcebc32142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5f3beb3d6c45ac" /><Relationship Type="http://schemas.openxmlformats.org/officeDocument/2006/relationships/notesMaster" Target="/ppt/notesMasters/notesMaster1.xml" Id="R56063ee4a04841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5f1c39b6db4783" /><Relationship Type="http://schemas.openxmlformats.org/officeDocument/2006/relationships/notesMaster" Target="/ppt/notesMasters/notesMaster1.xml" Id="R18e576d4bd1441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ac5d0f1fe04c61" /><Relationship Type="http://schemas.openxmlformats.org/officeDocument/2006/relationships/notesMaster" Target="/ppt/notesMasters/notesMaster1.xml" Id="Rfbffacd3c4d748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f4b790d45f43bc" /><Relationship Type="http://schemas.openxmlformats.org/officeDocument/2006/relationships/notesMaster" Target="/ppt/notesMasters/notesMaster1.xml" Id="R2ca9cc65db4d46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50b1c928e248d3" /><Relationship Type="http://schemas.openxmlformats.org/officeDocument/2006/relationships/notesMaster" Target="/ppt/notesMasters/notesMaster1.xml" Id="R89b2d971d91041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ca91b140ac4f86" /><Relationship Type="http://schemas.openxmlformats.org/officeDocument/2006/relationships/notesMaster" Target="/ppt/notesMasters/notesMaster1.xml" Id="R1ec28e267a9742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ec584eb1b94777" /><Relationship Type="http://schemas.openxmlformats.org/officeDocument/2006/relationships/notesMaster" Target="/ppt/notesMasters/notesMaster1.xml" Id="R1ef2148add8b46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00d4c512e14053" /><Relationship Type="http://schemas.openxmlformats.org/officeDocument/2006/relationships/notesMaster" Target="/ppt/notesMasters/notesMaster1.xml" Id="Rb511056550c146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58a9ad0957408a" /><Relationship Type="http://schemas.openxmlformats.org/officeDocument/2006/relationships/notesMaster" Target="/ppt/notesMasters/notesMaster1.xml" Id="R732c1a06326640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ea7dcf1dfe410a" /><Relationship Type="http://schemas.openxmlformats.org/officeDocument/2006/relationships/notesMaster" Target="/ppt/notesMasters/notesMaster1.xml" Id="Rf073700cedc84b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7831ce36e94f6d" /><Relationship Type="http://schemas.openxmlformats.org/officeDocument/2006/relationships/notesMaster" Target="/ppt/notesMasters/notesMaster1.xml" Id="R52c1b1b4308749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97fff8b0ee493b" /><Relationship Type="http://schemas.openxmlformats.org/officeDocument/2006/relationships/notesMaster" Target="/ppt/notesMasters/notesMaster1.xml" Id="Ra686f93945494a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f4aa766b1c4b25" /><Relationship Type="http://schemas.openxmlformats.org/officeDocument/2006/relationships/notesMaster" Target="/ppt/notesMasters/notesMaster1.xml" Id="Ref9582c098144b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a9c6f26dbf4529" /><Relationship Type="http://schemas.openxmlformats.org/officeDocument/2006/relationships/notesMaster" Target="/ppt/notesMasters/notesMaster1.xml" Id="Raa201d1e26b94d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05b59de46e47e1" /><Relationship Type="http://schemas.openxmlformats.org/officeDocument/2006/relationships/notesMaster" Target="/ppt/notesMasters/notesMaster1.xml" Id="R453743adb59648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073de35b394edb" /><Relationship Type="http://schemas.openxmlformats.org/officeDocument/2006/relationships/notesMaster" Target="/ppt/notesMasters/notesMaster1.xml" Id="R6c3eb1fa57b64b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3e5db0de2534153" /><Relationship Type="http://schemas.openxmlformats.org/officeDocument/2006/relationships/notesMaster" Target="/ppt/notesMasters/notesMaster1.xml" Id="R92aa28bb458648d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9e032703654ab7" /><Relationship Type="http://schemas.openxmlformats.org/officeDocument/2006/relationships/notesMaster" Target="/ppt/notesMasters/notesMaster1.xml" Id="R845f4a914452492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91b57e97214632" /><Relationship Type="http://schemas.openxmlformats.org/officeDocument/2006/relationships/notesMaster" Target="/ppt/notesMasters/notesMaster1.xml" Id="R0254b663c9404ae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7220021ac00441d" /><Relationship Type="http://schemas.openxmlformats.org/officeDocument/2006/relationships/notesMaster" Target="/ppt/notesMasters/notesMaster1.xml" Id="Rfee90a3f563849e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55ac31fae6e4e89" /><Relationship Type="http://schemas.openxmlformats.org/officeDocument/2006/relationships/notesMaster" Target="/ppt/notesMasters/notesMaster1.xml" Id="R1897940c251e468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14dd65d10b342df" /><Relationship Type="http://schemas.openxmlformats.org/officeDocument/2006/relationships/notesMaster" Target="/ppt/notesMasters/notesMaster1.xml" Id="Rb93dfc83db6949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Submission day intentionally left blank. Month/year: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project implementation and final report reviewed on 20 September 2026. No fabricated screenshots, candidate ranking, live reliability or placement metrics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project implementation and final report reviewed on 20 September 2026. No fabricated screenshots, candidate ranking, live reliability or placement metrics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project implementation and final report reviewed on 20 September 2026. No fabricated screenshots, candidate ranking, live reliability or placement metrics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project implementation and final report reviewed on 20 September 2026. No fabricated screenshots, candidate ranking, live reliability or placement metrics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project implementation and final report reviewed on 20 September 2026. No fabricated screenshots, candidate ranking, live reliability or placement metrics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 dashboard route /dashboard; separate Django session, active superuser required, CSRF protected. Search/filter/paginated read-only records. No general editing or rejection in custom dashboard; Django Admin handles advanced edits and rejection. Deletion requires typing the exact account email and excludes staff, superusers and self. Actions logged.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Codes expire after ten minutes, 60-second resend cooldown and five wrong attempts. Stored as password hashes; consumed on success. Failed registration email rolls back account. Failed resend preserves prior code. Password recovery still uses tokenized links, not OTP.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project implementation and final report reviewed on 20 September 2026. No fabricated screenshots, candidate ranking, live reliability or placement metrics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project implementation and final report reviewed on 20 September 2026. No fabricated screenshots, candidate ranking, live reliability or placement metrics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Cloudflare serves React assets and proxies API/accounts/media/admin/static routes to Django on Render. Local SQLite; PostgreSQL and private S3-compatible storage configurable. Email through SMTP or Resend HTTPS. Google OAuth requires configuration. Diagram shows logical request/data path, not a measured deployment topology.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ERD placeholder: User → StudentProfile or RecruiterProfile; recruiter → one company; jobs belong to recruiter/company; applications join student/job; notifications belong to recipient. Skills link to students/jobs. EmailVerificationCode links to allauth EmailAddress.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states: Submitted, Under Review, Accepted, Rejected, Withdrawn. Student may withdraw only from Submitted or Under Review. Withdrawn applications cannot be reopened. Do not imply other states must follow a strict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20 September 2026: 79 backend tests, eight frontend logic tests and six Worker tests. Python 3.13.7 and Node 24.15.0. TypeScript browser/Worker checks, production Vite build and Django check passed. Test emails simulated. No claim of code coverage percentage, user acceptance, load testing, browser E2E or live provider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Configured frontend https://jobportal-frontend.shinzo0864.workers.dev/ and backend https://jobportal-project-didk.onrender.com . Read-only homepage and health checks timed out from the report environment. This slide describes repository configuration and does not claim uptime or live reliability.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project implementation and final report reviewed on 20 September 2026. No fabricated screenshots, candidate ranking, live reliability or placement metrics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project implementation and final report reviewed on 20 September 2026. No fabricated screenshots, candidate ranking, live reliability or placement metrics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project implementation and final report reviewed on 20 September 2026. No fabricated screenshots, candidate ranking, live reliability or placement metrics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project implementation and final report reviewed on 20 September 2026. No fabricated screenshots, candidate ranking, live reliability or placement metrics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project implementation and final report reviewed on 20 September 2026. No fabricated screenshots, candidate ranking, live reliability or placement metrics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project implementation and final report reviewed on 20 September 2026. No fabricated screenshots, candidate ranking, live reliability or placement metrics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 supplied JobPortal_midsem_ppt (2) (4).pptx; JOB_PORTAL_MIDSEM_REPORT (2) (5).docx; updated final report and reviewed source/tests dated 20 September 2026. https://docs.djangoproject.com/en/5.2/ ; https://www.django-rest-framework.org/ ; https://react.dev/learn ; https://www.typescriptlang.org/docs/ ; https://developers.cloudflare.com/workers/static-assets/ ; https://render.com/docs/deploy-django ; https://resend.com/docs/api-reference/emails/send-email . No unverified stock visuals or fabricated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project implementation and final report reviewed on 20 September 2026. No fabricated screenshots, candidate ranking, live reliability or placement metrics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1903ba16d4d6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1376ff3d0ec427e" /><Relationship Type="http://schemas.openxmlformats.org/officeDocument/2006/relationships/slideLayout" Target="/ppt/slideLayouts/slideLayout2.xml" Id="Rd1abc53360124a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abc53360124a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695254dce44336" /><Relationship Type="http://schemas.openxmlformats.org/officeDocument/2006/relationships/notesSlide" Target="/ppt/notesSlides/notesSlide1.xml" Id="R4ff89f53f5c444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ebab3f2e3f4a9d" /><Relationship Type="http://schemas.openxmlformats.org/officeDocument/2006/relationships/notesSlide" Target="/ppt/notesSlides/notesSlide2.xml" Id="R00e5713408e34e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3d16dde49e46ab" /><Relationship Type="http://schemas.openxmlformats.org/officeDocument/2006/relationships/notesSlide" Target="/ppt/notesSlides/notesSlide3.xml" Id="R1438d13c975545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2802967f2e4331" /><Relationship Type="http://schemas.openxmlformats.org/officeDocument/2006/relationships/notesSlide" Target="/ppt/notesSlides/notesSlide4.xml" Id="Rf28c4520e1ed44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63369ded6544aa" /><Relationship Type="http://schemas.openxmlformats.org/officeDocument/2006/relationships/notesSlide" Target="/ppt/notesSlides/notesSlide5.xml" Id="R786697c61c7140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904e84ada542eb" /><Relationship Type="http://schemas.openxmlformats.org/officeDocument/2006/relationships/notesSlide" Target="/ppt/notesSlides/notesSlide6.xml" Id="R4aa8fcc5c09a4c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5b7de487594569" /><Relationship Type="http://schemas.openxmlformats.org/officeDocument/2006/relationships/notesSlide" Target="/ppt/notesSlides/notesSlide7.xml" Id="Rdbd0e4552bfd43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e669d7ea2648b0" /><Relationship Type="http://schemas.openxmlformats.org/officeDocument/2006/relationships/notesSlide" Target="/ppt/notesSlides/notesSlide8.xml" Id="Rd17896d7032147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5821f10f57417b" /><Relationship Type="http://schemas.openxmlformats.org/officeDocument/2006/relationships/notesSlide" Target="/ppt/notesSlides/notesSlide9.xml" Id="R3bdf4fc45d7d4c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f212f13d644d71" /><Relationship Type="http://schemas.openxmlformats.org/officeDocument/2006/relationships/notesSlide" Target="/ppt/notesSlides/notesSlide10.xml" Id="Rc61e91808b6545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e8669cc5c6448f" /><Relationship Type="http://schemas.openxmlformats.org/officeDocument/2006/relationships/notesSlide" Target="/ppt/notesSlides/notesSlide11.xml" Id="Rac546bc00b7343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afd661ea564150" /><Relationship Type="http://schemas.openxmlformats.org/officeDocument/2006/relationships/notesSlide" Target="/ppt/notesSlides/notesSlide12.xml" Id="Rcf59cc748df343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b059b4d0b64443" /><Relationship Type="http://schemas.openxmlformats.org/officeDocument/2006/relationships/notesSlide" Target="/ppt/notesSlides/notesSlide13.xml" Id="R56fb596f465d4f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6f5a5903d54f52" /><Relationship Type="http://schemas.openxmlformats.org/officeDocument/2006/relationships/notesSlide" Target="/ppt/notesSlides/notesSlide14.xml" Id="R567594c499064f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0d556790c643fa" /><Relationship Type="http://schemas.openxmlformats.org/officeDocument/2006/relationships/notesSlide" Target="/ppt/notesSlides/notesSlide15.xml" Id="R99472f11431943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0802a937c44e14" /><Relationship Type="http://schemas.openxmlformats.org/officeDocument/2006/relationships/notesSlide" Target="/ppt/notesSlides/notesSlide16.xml" Id="Raa2ab16a017a46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a9771379c241d2" /><Relationship Type="http://schemas.openxmlformats.org/officeDocument/2006/relationships/notesSlide" Target="/ppt/notesSlides/notesSlide17.xml" Id="Rb3cfd689a3e74d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fd90d4bb7544e8" /><Relationship Type="http://schemas.openxmlformats.org/officeDocument/2006/relationships/notesSlide" Target="/ppt/notesSlides/notesSlide18.xml" Id="R91b19f417b9c4fb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80b4087dbb45e8" /><Relationship Type="http://schemas.openxmlformats.org/officeDocument/2006/relationships/notesSlide" Target="/ppt/notesSlides/notesSlide19.xml" Id="Rb24a1384b3fd49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695ff110f3416a" /><Relationship Type="http://schemas.openxmlformats.org/officeDocument/2006/relationships/notesSlide" Target="/ppt/notesSlides/notesSlide20.xml" Id="R1f1f6d90544844f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b254e56e3e40c1" /><Relationship Type="http://schemas.openxmlformats.org/officeDocument/2006/relationships/notesSlide" Target="/ppt/notesSlides/notesSlide21.xml" Id="Rb02198fd58c1476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eb23cc4a62429e" /><Relationship Type="http://schemas.openxmlformats.org/officeDocument/2006/relationships/notesSlide" Target="/ppt/notesSlides/notesSlide22.xml" Id="R19772998cc2741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b5186f3a494c67" /><Relationship Type="http://schemas.openxmlformats.org/officeDocument/2006/relationships/notesSlide" Target="/ppt/notesSlides/notesSlide23.xml" Id="R81ebe0fb696a4b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301886F-1017-4926-8488-D561E5A8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CFC2"/>
                </a:solidFill>
                <a:latin typeface="Arial"/>
                <a:ea typeface="Arial"/>
                <a:cs typeface="Arial"/>
              </a:defRPr>
            </a:pPr>
            <a:r>
              <a:t>FINAL PROJECT</a:t>
            </a:r>
          </a:p>
        </p:txBody>
      </p:sp>
      <p:sp>
        <p:nvSpPr>
          <p:cNvPr id="2" name="box-1">
            <a:extLst xmlns:a="http://schemas.openxmlformats.org/drawingml/2006/main">
              <a:ext uri="{FF2B5EF4-FFF2-40B4-BE49-F238E27FC236}">
                <a16:creationId xmlns:a16="http://schemas.microsoft.com/office/drawing/2014/main" id="{4D451DC2-744A-4FEA-A6A4-E18AF239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A"/>
          </a:solidFill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6E7D532-1664-43CD-A7F6-FF0C4865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EBF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465D387-8C53-4A09-A9AF-78F3479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FBEB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0E43EC5-D44F-4014-B995-AAC29751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80010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Job Portal for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82F81F5-7667-4A2F-8530-CC291A66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80010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University Students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FA06CA4-BF70-4B05-820A-1BDBE141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429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BD5D3"/>
                </a:solidFill>
                <a:latin typeface="Arial"/>
                <a:ea typeface="Arial"/>
                <a:cs typeface="Arial"/>
              </a:defRPr>
            </a:pPr>
            <a:r>
              <a:t>From campus opportunities to a shared hiring workflow.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1E1FD9-5E9E-4AAE-997E-341BC2AF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809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Myanmar Institute of Information Technology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49B1061-1BC9-4D71-B910-80D84552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EBF"/>
                </a:solidFill>
                <a:latin typeface="Arial"/>
                <a:ea typeface="Arial"/>
                <a:cs typeface="Arial"/>
              </a:defRPr>
            </a:pPr>
            <a:r>
              <a:t>PROJ 3001 • Special Project II</a:t>
            </a:r>
          </a:p>
        </p:txBody>
      </p:sp>
      <p:sp>
        <p:nvSpPr>
          <p:cNvPr id="10" name="box-9">
            <a:extLst xmlns:a="http://schemas.openxmlformats.org/drawingml/2006/main">
              <a:ext uri="{FF2B5EF4-FFF2-40B4-BE49-F238E27FC236}">
                <a16:creationId xmlns:a16="http://schemas.microsoft.com/office/drawing/2014/main" id="{59ABC5B2-17AA-452B-84D3-54954803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28775"/>
            <a:ext cx="47625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8"/>
          </a:solidFill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999AD54-2CEB-466E-8CC9-4E79C96A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33550"/>
            <a:ext cx="186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8CFC2"/>
                </a:solidFill>
                <a:latin typeface="Arial"/>
                <a:ea typeface="Arial"/>
                <a:cs typeface="Arial"/>
              </a:defRPr>
            </a:pPr>
            <a:r>
              <a:t>FINAL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1972070-A3D4-4FD9-9EB9-87F94501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0"/>
            <a:ext cx="186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8CFC2"/>
                </a:solidFill>
                <a:latin typeface="Arial"/>
                <a:ea typeface="Arial"/>
                <a:cs typeface="Arial"/>
              </a:defRPr>
            </a:pPr>
            <a:r>
              <a:t>PROJECT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751231D6-4B25-4C57-A685-C33D6C5D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19500"/>
            <a:ext cx="1866900" cy="5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___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AA801BD6-6290-4646-B854-0B57D98A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27500"/>
            <a:ext cx="1866900" cy="5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September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F3D61AC1-ABCA-4A93-8499-95D317A2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35500"/>
            <a:ext cx="1866900" cy="5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88888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A26B498-1F34-4AE2-8769-99BF9DE3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PROJECT TEAM</a:t>
            </a:r>
          </a:p>
        </p:txBody>
      </p:sp>
      <p:sp>
        <p:nvSpPr>
          <p:cNvPr id="2" name="text-15">
            <a:extLst xmlns:a="http://schemas.openxmlformats.org/drawingml/2006/main">
              <a:ext uri="{FF2B5EF4-FFF2-40B4-BE49-F238E27FC236}">
                <a16:creationId xmlns:a16="http://schemas.microsoft.com/office/drawing/2014/main" id="{84BB8C9D-2CDB-42F1-8496-ACC69996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Built as a Special Project at MIIT</a:t>
            </a:r>
          </a:p>
        </p:txBody>
      </p:sp>
      <p:sp>
        <p:nvSpPr>
          <p:cNvPr id="3" name="box-16">
            <a:extLst xmlns:a="http://schemas.openxmlformats.org/drawingml/2006/main">
              <a:ext uri="{FF2B5EF4-FFF2-40B4-BE49-F238E27FC236}">
                <a16:creationId xmlns:a16="http://schemas.microsoft.com/office/drawing/2014/main" id="{51F72DC2-A539-4B15-9601-3518B72F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17">
            <a:extLst xmlns:a="http://schemas.openxmlformats.org/drawingml/2006/main">
              <a:ext uri="{FF2B5EF4-FFF2-40B4-BE49-F238E27FC236}">
                <a16:creationId xmlns:a16="http://schemas.microsoft.com/office/drawing/2014/main" id="{D4C4F970-D7AD-4727-811F-6F08D021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18">
            <a:extLst xmlns:a="http://schemas.openxmlformats.org/drawingml/2006/main">
              <a:ext uri="{FF2B5EF4-FFF2-40B4-BE49-F238E27FC236}">
                <a16:creationId xmlns:a16="http://schemas.microsoft.com/office/drawing/2014/main" id="{C0503468-D3CA-4428-A32E-B129D807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6" name="text-19">
            <a:extLst xmlns:a="http://schemas.openxmlformats.org/drawingml/2006/main">
              <a:ext uri="{FF2B5EF4-FFF2-40B4-BE49-F238E27FC236}">
                <a16:creationId xmlns:a16="http://schemas.microsoft.com/office/drawing/2014/main" id="{6F2D57E2-528D-4032-A4F7-1DF44260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7143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20">
            <a:extLst xmlns:a="http://schemas.openxmlformats.org/drawingml/2006/main">
              <a:ext uri="{FF2B5EF4-FFF2-40B4-BE49-F238E27FC236}">
                <a16:creationId xmlns:a16="http://schemas.microsoft.com/office/drawing/2014/main" id="{98DFA33E-C736-4F16-8E39-E6BB9C51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90750"/>
            <a:ext cx="5905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Pyae Phyo Maung</a:t>
            </a:r>
          </a:p>
        </p:txBody>
      </p:sp>
      <p:sp>
        <p:nvSpPr>
          <p:cNvPr id="8" name="text-21">
            <a:extLst xmlns:a="http://schemas.openxmlformats.org/drawingml/2006/main">
              <a:ext uri="{FF2B5EF4-FFF2-40B4-BE49-F238E27FC236}">
                <a16:creationId xmlns:a16="http://schemas.microsoft.com/office/drawing/2014/main" id="{C67BDE78-7CDE-41ED-9B8F-63D2F76E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47950"/>
            <a:ext cx="571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2023-MIIT-CSE-013</a:t>
            </a:r>
          </a:p>
        </p:txBody>
      </p:sp>
      <p:sp>
        <p:nvSpPr>
          <p:cNvPr id="9" name="box-22">
            <a:extLst xmlns:a="http://schemas.openxmlformats.org/drawingml/2006/main">
              <a:ext uri="{FF2B5EF4-FFF2-40B4-BE49-F238E27FC236}">
                <a16:creationId xmlns:a16="http://schemas.microsoft.com/office/drawing/2014/main" id="{E71E6CD7-4A03-4816-B713-CBB2D1E4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575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0" name="text-23">
            <a:extLst xmlns:a="http://schemas.openxmlformats.org/drawingml/2006/main">
              <a:ext uri="{FF2B5EF4-FFF2-40B4-BE49-F238E27FC236}">
                <a16:creationId xmlns:a16="http://schemas.microsoft.com/office/drawing/2014/main" id="{E0C404A7-CCDC-42C3-B9F9-180E9D90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7143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1" name="text-24">
            <a:extLst xmlns:a="http://schemas.openxmlformats.org/drawingml/2006/main">
              <a:ext uri="{FF2B5EF4-FFF2-40B4-BE49-F238E27FC236}">
                <a16:creationId xmlns:a16="http://schemas.microsoft.com/office/drawing/2014/main" id="{BB122E1A-EB3F-4C43-93D0-C777710D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48025"/>
            <a:ext cx="5905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Min Thant Zin</a:t>
            </a:r>
          </a:p>
        </p:txBody>
      </p:sp>
      <p:sp>
        <p:nvSpPr>
          <p:cNvPr id="12" name="text-25">
            <a:extLst xmlns:a="http://schemas.openxmlformats.org/drawingml/2006/main">
              <a:ext uri="{FF2B5EF4-FFF2-40B4-BE49-F238E27FC236}">
                <a16:creationId xmlns:a16="http://schemas.microsoft.com/office/drawing/2014/main" id="{0F810A44-DED4-4C15-957B-21C80AC3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05225"/>
            <a:ext cx="571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2023-MIIT-CSE-027</a:t>
            </a:r>
          </a:p>
        </p:txBody>
      </p:sp>
      <p:sp>
        <p:nvSpPr>
          <p:cNvPr id="13" name="box-26">
            <a:extLst xmlns:a="http://schemas.openxmlformats.org/drawingml/2006/main">
              <a:ext uri="{FF2B5EF4-FFF2-40B4-BE49-F238E27FC236}">
                <a16:creationId xmlns:a16="http://schemas.microsoft.com/office/drawing/2014/main" id="{59BB59F9-9CE4-46CE-B663-9DF3FF3C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148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01B79450-52A5-4351-91E6-69EFEFD7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7143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96150248-E5D4-4404-8052-422BDBB5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5905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Than Tun</a:t>
            </a:r>
          </a:p>
        </p:txBody>
      </p:sp>
      <p:sp>
        <p:nvSpPr>
          <p:cNvPr id="16" name="text-29">
            <a:extLst xmlns:a="http://schemas.openxmlformats.org/drawingml/2006/main">
              <a:ext uri="{FF2B5EF4-FFF2-40B4-BE49-F238E27FC236}">
                <a16:creationId xmlns:a16="http://schemas.microsoft.com/office/drawing/2014/main" id="{40A52256-3F5F-46DB-8D78-25506ADF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62500"/>
            <a:ext cx="571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2023-MIIT-CSE-059</a:t>
            </a:r>
          </a:p>
        </p:txBody>
      </p:sp>
      <p:sp>
        <p:nvSpPr>
          <p:cNvPr id="17" name="box-30">
            <a:extLst xmlns:a="http://schemas.openxmlformats.org/drawingml/2006/main">
              <a:ext uri="{FF2B5EF4-FFF2-40B4-BE49-F238E27FC236}">
                <a16:creationId xmlns:a16="http://schemas.microsoft.com/office/drawing/2014/main" id="{B936FDF0-7B90-46D9-AE5B-FDFA289A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720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8" name="box-31">
            <a:extLst xmlns:a="http://schemas.openxmlformats.org/drawingml/2006/main">
              <a:ext uri="{FF2B5EF4-FFF2-40B4-BE49-F238E27FC236}">
                <a16:creationId xmlns:a16="http://schemas.microsoft.com/office/drawing/2014/main" id="{FB7E3B78-8D2A-46B0-8B65-A139C92A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95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9" name="text-32">
            <a:extLst xmlns:a="http://schemas.openxmlformats.org/drawingml/2006/main">
              <a:ext uri="{FF2B5EF4-FFF2-40B4-BE49-F238E27FC236}">
                <a16:creationId xmlns:a16="http://schemas.microsoft.com/office/drawing/2014/main" id="{9ED97B49-1F88-44B7-91B8-354D36E3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33625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Instructor</a:t>
            </a:r>
          </a:p>
        </p:txBody>
      </p:sp>
      <p:sp>
        <p:nvSpPr>
          <p:cNvPr id="20" name="text-33">
            <a:extLst xmlns:a="http://schemas.openxmlformats.org/drawingml/2006/main">
              <a:ext uri="{FF2B5EF4-FFF2-40B4-BE49-F238E27FC236}">
                <a16:creationId xmlns:a16="http://schemas.microsoft.com/office/drawing/2014/main" id="{AC261B40-E189-4D8A-A5BF-B15151FC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14625"/>
            <a:ext cx="3333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Dr. Zar Chi Su Hlaing</a:t>
            </a:r>
          </a:p>
        </p:txBody>
      </p:sp>
      <p:sp>
        <p:nvSpPr>
          <p:cNvPr id="21" name="text-34">
            <a:extLst xmlns:a="http://schemas.openxmlformats.org/drawingml/2006/main">
              <a:ext uri="{FF2B5EF4-FFF2-40B4-BE49-F238E27FC236}">
                <a16:creationId xmlns:a16="http://schemas.microsoft.com/office/drawing/2014/main" id="{60FD7FD9-E2AF-43E1-8CBF-AE07455E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6766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Project supervisor</a:t>
            </a:r>
          </a:p>
        </p:txBody>
      </p:sp>
      <p:sp>
        <p:nvSpPr>
          <p:cNvPr id="22" name="text-35">
            <a:extLst xmlns:a="http://schemas.openxmlformats.org/drawingml/2006/main">
              <a:ext uri="{FF2B5EF4-FFF2-40B4-BE49-F238E27FC236}">
                <a16:creationId xmlns:a16="http://schemas.microsoft.com/office/drawing/2014/main" id="{5DF1A752-0756-414D-B935-9084C805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057650"/>
            <a:ext cx="3333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Daw Khin Myat Nwe Win</a:t>
            </a:r>
          </a:p>
        </p:txBody>
      </p:sp>
    </p:spTree>
    <p:extLst>
      <p:ext uri="{BB962C8B-B14F-4D97-AF65-F5344CB8AC3E}">
        <p14:creationId xmlns:p14="http://schemas.microsoft.com/office/powerpoint/2010/main" val="3290328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DB67418-FCCC-4C08-93D6-71517AD1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THE PROBLEM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2FFB8062-AB39-4A40-AF08-8649D994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One portal replaces scattered recruitment channels</a:t>
            </a:r>
          </a:p>
        </p:txBody>
      </p:sp>
      <p:sp>
        <p:nvSpPr>
          <p:cNvPr id="3" name="box-37">
            <a:extLst xmlns:a="http://schemas.openxmlformats.org/drawingml/2006/main">
              <a:ext uri="{FF2B5EF4-FFF2-40B4-BE49-F238E27FC236}">
                <a16:creationId xmlns:a16="http://schemas.microsoft.com/office/drawing/2014/main" id="{2C192BC3-6F0E-4D33-A2AB-E017CBC1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773947F2-59AB-4F90-BE63-280A8EC6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6A60CD00-278F-4838-89F4-B8B905EB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92BB551C-9339-4AE1-8E59-01ED1475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57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BEFORE</a:t>
            </a:r>
          </a:p>
        </p:txBody>
      </p:sp>
      <p:sp>
        <p:nvSpPr>
          <p:cNvPr id="7" name="text-41">
            <a:extLst xmlns:a="http://schemas.openxmlformats.org/drawingml/2006/main">
              <a:ext uri="{FF2B5EF4-FFF2-40B4-BE49-F238E27FC236}">
                <a16:creationId xmlns:a16="http://schemas.microsoft.com/office/drawing/2014/main" id="{59FAFA10-E310-4C52-89CD-77FA996A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COMPLETED PORTAL</a:t>
            </a:r>
          </a:p>
        </p:txBody>
      </p:sp>
      <p:sp>
        <p:nvSpPr>
          <p:cNvPr id="8" name="box-42">
            <a:extLst xmlns:a="http://schemas.openxmlformats.org/drawingml/2006/main">
              <a:ext uri="{FF2B5EF4-FFF2-40B4-BE49-F238E27FC236}">
                <a16:creationId xmlns:a16="http://schemas.microsoft.com/office/drawing/2014/main" id="{AF8B47C8-18DF-4288-AD49-95B0CDCA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9E442A72-6CA5-4DA0-9C67-A8AC9770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857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Scattered posts and private groups</a:t>
            </a:r>
          </a:p>
        </p:txBody>
      </p:sp>
      <p:sp>
        <p:nvSpPr>
          <p:cNvPr id="10" name="text-44">
            <a:extLst xmlns:a="http://schemas.openxmlformats.org/drawingml/2006/main">
              <a:ext uri="{FF2B5EF4-FFF2-40B4-BE49-F238E27FC236}">
                <a16:creationId xmlns:a16="http://schemas.microsoft.com/office/drawing/2014/main" id="{CF72A9B2-31B1-471F-98E2-4F09E81B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5105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A searchable campus job feed</a:t>
            </a:r>
          </a:p>
        </p:txBody>
      </p:sp>
      <p:sp>
        <p:nvSpPr>
          <p:cNvPr id="11" name="box-45">
            <a:extLst xmlns:a="http://schemas.openxmlformats.org/drawingml/2006/main">
              <a:ext uri="{FF2B5EF4-FFF2-40B4-BE49-F238E27FC236}">
                <a16:creationId xmlns:a16="http://schemas.microsoft.com/office/drawing/2014/main" id="{1AF6631F-723B-4910-8C0E-0885DFC4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2" name="text-46">
            <a:extLst xmlns:a="http://schemas.openxmlformats.org/drawingml/2006/main">
              <a:ext uri="{FF2B5EF4-FFF2-40B4-BE49-F238E27FC236}">
                <a16:creationId xmlns:a16="http://schemas.microsoft.com/office/drawing/2014/main" id="{51B61215-3137-438E-80AB-98284057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4857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Separate CVs and informal messages</a:t>
            </a:r>
          </a:p>
        </p:txBody>
      </p:sp>
      <p:sp>
        <p:nvSpPr>
          <p:cNvPr id="13" name="text-47">
            <a:extLst xmlns:a="http://schemas.openxmlformats.org/drawingml/2006/main">
              <a:ext uri="{FF2B5EF4-FFF2-40B4-BE49-F238E27FC236}">
                <a16:creationId xmlns:a16="http://schemas.microsoft.com/office/drawing/2014/main" id="{95EDEFCD-50C9-453C-A4B0-94A8241C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86175"/>
            <a:ext cx="5105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Structured profiles and online applications</a:t>
            </a:r>
          </a:p>
        </p:txBody>
      </p:sp>
      <p:sp>
        <p:nvSpPr>
          <p:cNvPr id="14" name="box-48">
            <a:extLst xmlns:a="http://schemas.openxmlformats.org/drawingml/2006/main">
              <a:ext uri="{FF2B5EF4-FFF2-40B4-BE49-F238E27FC236}">
                <a16:creationId xmlns:a16="http://schemas.microsoft.com/office/drawing/2014/main" id="{D2A43235-1A69-48A9-A61E-762AD986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5" name="text-49">
            <a:extLst xmlns:a="http://schemas.openxmlformats.org/drawingml/2006/main">
              <a:ext uri="{FF2B5EF4-FFF2-40B4-BE49-F238E27FC236}">
                <a16:creationId xmlns:a16="http://schemas.microsoft.com/office/drawing/2014/main" id="{7C746E58-3F54-43CA-8F56-1BAB4F49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857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Unclear follow-up after applying</a:t>
            </a:r>
          </a:p>
        </p:txBody>
      </p:sp>
      <p:sp>
        <p:nvSpPr>
          <p:cNvPr id="16" name="text-50">
            <a:extLst xmlns:a="http://schemas.openxmlformats.org/drawingml/2006/main">
              <a:ext uri="{FF2B5EF4-FFF2-40B4-BE49-F238E27FC236}">
                <a16:creationId xmlns:a16="http://schemas.microsoft.com/office/drawing/2014/main" id="{942F332B-5398-40FB-B40F-BC7F38B3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5350"/>
            <a:ext cx="5105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Shared status history and notifications</a:t>
            </a:r>
          </a:p>
        </p:txBody>
      </p:sp>
    </p:spTree>
    <p:extLst>
      <p:ext uri="{BB962C8B-B14F-4D97-AF65-F5344CB8AC3E}">
        <p14:creationId xmlns:p14="http://schemas.microsoft.com/office/powerpoint/2010/main" val="1978699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825A4E-46E8-4E0B-AC16-ABEA17EA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USERS AND ACCESS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6E1262F7-4926-4793-B1EF-8818AFC6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Three roles share one controlled workflow</a:t>
            </a:r>
          </a:p>
        </p:txBody>
      </p:sp>
      <p:sp>
        <p:nvSpPr>
          <p:cNvPr id="3" name="box-52">
            <a:extLst xmlns:a="http://schemas.openxmlformats.org/drawingml/2006/main">
              <a:ext uri="{FF2B5EF4-FFF2-40B4-BE49-F238E27FC236}">
                <a16:creationId xmlns:a16="http://schemas.microsoft.com/office/drawing/2014/main" id="{52B07FE6-65D7-4F96-92EA-8F62C35C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46765F74-9AA9-4E6A-A9E6-A8FA25AC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54">
            <a:extLst xmlns:a="http://schemas.openxmlformats.org/drawingml/2006/main">
              <a:ext uri="{FF2B5EF4-FFF2-40B4-BE49-F238E27FC236}">
                <a16:creationId xmlns:a16="http://schemas.microsoft.com/office/drawing/2014/main" id="{426033F1-9A1D-4D03-BD9E-B942676E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6" name="text-55">
            <a:extLst xmlns:a="http://schemas.openxmlformats.org/drawingml/2006/main">
              <a:ext uri="{FF2B5EF4-FFF2-40B4-BE49-F238E27FC236}">
                <a16:creationId xmlns:a16="http://schemas.microsoft.com/office/drawing/2014/main" id="{A9A00708-C446-49BD-B7B4-8B0746E8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828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ROLE</a:t>
            </a:r>
          </a:p>
        </p:txBody>
      </p:sp>
      <p:sp>
        <p:nvSpPr>
          <p:cNvPr id="7" name="text-56">
            <a:extLst xmlns:a="http://schemas.openxmlformats.org/drawingml/2006/main">
              <a:ext uri="{FF2B5EF4-FFF2-40B4-BE49-F238E27FC236}">
                <a16:creationId xmlns:a16="http://schemas.microsoft.com/office/drawing/2014/main" id="{EABA31D3-C7DF-41A4-B92A-B844C628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MAIN ACTIONS</a:t>
            </a:r>
          </a:p>
        </p:txBody>
      </p:sp>
      <p:sp>
        <p:nvSpPr>
          <p:cNvPr id="8" name="text-57">
            <a:extLst xmlns:a="http://schemas.openxmlformats.org/drawingml/2006/main">
              <a:ext uri="{FF2B5EF4-FFF2-40B4-BE49-F238E27FC236}">
                <a16:creationId xmlns:a16="http://schemas.microsoft.com/office/drawing/2014/main" id="{02A53D0A-DA1F-4734-A7EA-46639ABC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415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ACCESS RULE</a:t>
            </a:r>
          </a:p>
        </p:txBody>
      </p:sp>
      <p:sp>
        <p:nvSpPr>
          <p:cNvPr id="9" name="box-58">
            <a:extLst xmlns:a="http://schemas.openxmlformats.org/drawingml/2006/main">
              <a:ext uri="{FF2B5EF4-FFF2-40B4-BE49-F238E27FC236}">
                <a16:creationId xmlns:a16="http://schemas.microsoft.com/office/drawing/2014/main" id="{732D09DB-0B5B-461F-9892-9F9C880A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0" name="text-59">
            <a:extLst xmlns:a="http://schemas.openxmlformats.org/drawingml/2006/main">
              <a:ext uri="{FF2B5EF4-FFF2-40B4-BE49-F238E27FC236}">
                <a16:creationId xmlns:a16="http://schemas.microsoft.com/office/drawing/2014/main" id="{B295913A-3D07-4FA8-A007-FEECEE3D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8288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Student</a:t>
            </a:r>
          </a:p>
        </p:txBody>
      </p:sp>
      <p:sp>
        <p:nvSpPr>
          <p:cNvPr id="11" name="text-60">
            <a:extLst xmlns:a="http://schemas.openxmlformats.org/drawingml/2006/main">
              <a:ext uri="{FF2B5EF4-FFF2-40B4-BE49-F238E27FC236}">
                <a16:creationId xmlns:a16="http://schemas.microsoft.com/office/drawing/2014/main" id="{F8ED0C8E-7317-4DA2-B016-39A31CBD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57475"/>
            <a:ext cx="43624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Profile • search • apply • track</a:t>
            </a:r>
          </a:p>
        </p:txBody>
      </p:sp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075D2E79-B806-4CA4-B400-BA3CC774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57475"/>
            <a:ext cx="41529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Verified email for applications</a:t>
            </a:r>
          </a:p>
        </p:txBody>
      </p:sp>
      <p:sp>
        <p:nvSpPr>
          <p:cNvPr id="13" name="box-62">
            <a:extLst xmlns:a="http://schemas.openxmlformats.org/drawingml/2006/main">
              <a:ext uri="{FF2B5EF4-FFF2-40B4-BE49-F238E27FC236}">
                <a16:creationId xmlns:a16="http://schemas.microsoft.com/office/drawing/2014/main" id="{4C72B7D8-B057-4F77-9855-C023D312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4" name="text-63">
            <a:extLst xmlns:a="http://schemas.openxmlformats.org/drawingml/2006/main">
              <a:ext uri="{FF2B5EF4-FFF2-40B4-BE49-F238E27FC236}">
                <a16:creationId xmlns:a16="http://schemas.microsoft.com/office/drawing/2014/main" id="{AF691339-E266-4379-9A3B-FCCE7228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8288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Recruiter</a:t>
            </a:r>
          </a:p>
        </p:txBody>
      </p:sp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ED9EBA14-26BA-4CC1-96C6-27F621B8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67125"/>
            <a:ext cx="43624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Company • jobs • applicants • talent</a:t>
            </a:r>
          </a:p>
        </p:txBody>
      </p:sp>
      <p:sp>
        <p:nvSpPr>
          <p:cNvPr id="16" name="text-65">
            <a:extLst xmlns:a="http://schemas.openxmlformats.org/drawingml/2006/main">
              <a:ext uri="{FF2B5EF4-FFF2-40B4-BE49-F238E27FC236}">
                <a16:creationId xmlns:a16="http://schemas.microsoft.com/office/drawing/2014/main" id="{BBE67062-3ADE-413D-B16D-BF089AF9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67125"/>
            <a:ext cx="41529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Verified email + recruiter/company approval</a:t>
            </a:r>
          </a:p>
        </p:txBody>
      </p:sp>
      <p:sp>
        <p:nvSpPr>
          <p:cNvPr id="17" name="box-66">
            <a:extLst xmlns:a="http://schemas.openxmlformats.org/drawingml/2006/main">
              <a:ext uri="{FF2B5EF4-FFF2-40B4-BE49-F238E27FC236}">
                <a16:creationId xmlns:a16="http://schemas.microsoft.com/office/drawing/2014/main" id="{81C01D17-A8C6-4B82-A040-955D6F97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8" name="text-67">
            <a:extLst xmlns:a="http://schemas.openxmlformats.org/drawingml/2006/main">
              <a:ext uri="{FF2B5EF4-FFF2-40B4-BE49-F238E27FC236}">
                <a16:creationId xmlns:a16="http://schemas.microsoft.com/office/drawing/2014/main" id="{29B7C97D-AB99-4AD4-81F7-8D71342B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8288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Administrator</a:t>
            </a:r>
          </a:p>
        </p:txBody>
      </p:sp>
      <p:sp>
        <p:nvSpPr>
          <p:cNvPr id="19" name="text-68">
            <a:extLst xmlns:a="http://schemas.openxmlformats.org/drawingml/2006/main">
              <a:ext uri="{FF2B5EF4-FFF2-40B4-BE49-F238E27FC236}">
                <a16:creationId xmlns:a16="http://schemas.microsoft.com/office/drawing/2014/main" id="{F5C813A1-681A-46A0-B234-210144C2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76775"/>
            <a:ext cx="43624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Inspect • verify • approve • delete</a:t>
            </a:r>
          </a:p>
        </p:txBody>
      </p:sp>
      <p:sp>
        <p:nvSpPr>
          <p:cNvPr id="20" name="text-69">
            <a:extLst xmlns:a="http://schemas.openxmlformats.org/drawingml/2006/main">
              <a:ext uri="{FF2B5EF4-FFF2-40B4-BE49-F238E27FC236}">
                <a16:creationId xmlns:a16="http://schemas.microsoft.com/office/drawing/2014/main" id="{1A2E9BA9-D566-42FB-BF11-4B9F5885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76775"/>
            <a:ext cx="41529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Active superuser for custom dashboard</a:t>
            </a:r>
          </a:p>
        </p:txBody>
      </p:sp>
      <p:sp>
        <p:nvSpPr>
          <p:cNvPr id="21" name="text-70">
            <a:extLst xmlns:a="http://schemas.openxmlformats.org/drawingml/2006/main">
              <a:ext uri="{FF2B5EF4-FFF2-40B4-BE49-F238E27FC236}">
                <a16:creationId xmlns:a16="http://schemas.microsoft.com/office/drawing/2014/main" id="{EAA4A700-2DD3-49B7-A586-DE023EF1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Visitors may browse jobs. No public administrator sign-up is offered.</a:t>
            </a:r>
          </a:p>
        </p:txBody>
      </p:sp>
    </p:spTree>
    <p:extLst>
      <p:ext uri="{BB962C8B-B14F-4D97-AF65-F5344CB8AC3E}">
        <p14:creationId xmlns:p14="http://schemas.microsoft.com/office/powerpoint/2010/main" val="11779438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48D8EF2-53A8-493E-88F2-E023977C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STUDENT JOURNEY</a:t>
            </a:r>
          </a:p>
        </p:txBody>
      </p:sp>
      <p:sp>
        <p:nvSpPr>
          <p:cNvPr id="2" name="text-71">
            <a:extLst xmlns:a="http://schemas.openxmlformats.org/drawingml/2006/main">
              <a:ext uri="{FF2B5EF4-FFF2-40B4-BE49-F238E27FC236}">
                <a16:creationId xmlns:a16="http://schemas.microsoft.com/office/drawing/2014/main" id="{5D7C9429-44DF-41DC-9710-49DC6B70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Students can discover, apply and follow outcomes</a:t>
            </a:r>
          </a:p>
        </p:txBody>
      </p:sp>
      <p:sp>
        <p:nvSpPr>
          <p:cNvPr id="3" name="box-72">
            <a:extLst xmlns:a="http://schemas.openxmlformats.org/drawingml/2006/main">
              <a:ext uri="{FF2B5EF4-FFF2-40B4-BE49-F238E27FC236}">
                <a16:creationId xmlns:a16="http://schemas.microsoft.com/office/drawing/2014/main" id="{91098CFE-EAA2-49B7-839B-71D941A5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73">
            <a:extLst xmlns:a="http://schemas.openxmlformats.org/drawingml/2006/main">
              <a:ext uri="{FF2B5EF4-FFF2-40B4-BE49-F238E27FC236}">
                <a16:creationId xmlns:a16="http://schemas.microsoft.com/office/drawing/2014/main" id="{D5B5A415-D769-450A-867C-87FA6052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74">
            <a:extLst xmlns:a="http://schemas.openxmlformats.org/drawingml/2006/main">
              <a:ext uri="{FF2B5EF4-FFF2-40B4-BE49-F238E27FC236}">
                <a16:creationId xmlns:a16="http://schemas.microsoft.com/office/drawing/2014/main" id="{9587F84C-F206-43E0-9181-011E9392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6" name="text-75">
            <a:extLst xmlns:a="http://schemas.openxmlformats.org/drawingml/2006/main">
              <a:ext uri="{FF2B5EF4-FFF2-40B4-BE49-F238E27FC236}">
                <a16:creationId xmlns:a16="http://schemas.microsoft.com/office/drawing/2014/main" id="{D1BAC032-C7F6-4624-BF63-B9512987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Prepare a profile</a:t>
            </a:r>
          </a:p>
        </p:txBody>
      </p:sp>
      <p:sp>
        <p:nvSpPr>
          <p:cNvPr id="7" name="text-76">
            <a:extLst xmlns:a="http://schemas.openxmlformats.org/drawingml/2006/main">
              <a:ext uri="{FF2B5EF4-FFF2-40B4-BE49-F238E27FC236}">
                <a16:creationId xmlns:a16="http://schemas.microsoft.com/office/drawing/2014/main" id="{05BF96A6-99FE-4356-BAF3-B70B6C21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4857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University, skills, biography, photo and PDF resume.</a:t>
            </a:r>
          </a:p>
        </p:txBody>
      </p:sp>
      <p:sp>
        <p:nvSpPr>
          <p:cNvPr id="8" name="text-77">
            <a:extLst xmlns:a="http://schemas.openxmlformats.org/drawingml/2006/main">
              <a:ext uri="{FF2B5EF4-FFF2-40B4-BE49-F238E27FC236}">
                <a16:creationId xmlns:a16="http://schemas.microsoft.com/office/drawing/2014/main" id="{F29762BC-338B-4233-9D84-F8048728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Find an opportunity</a:t>
            </a:r>
          </a:p>
        </p:txBody>
      </p:sp>
      <p:sp>
        <p:nvSpPr>
          <p:cNvPr id="9" name="text-78">
            <a:extLst xmlns:a="http://schemas.openxmlformats.org/drawingml/2006/main">
              <a:ext uri="{FF2B5EF4-FFF2-40B4-BE49-F238E27FC236}">
                <a16:creationId xmlns:a16="http://schemas.microsoft.com/office/drawing/2014/main" id="{6871BCD7-45A7-48FE-A4DE-1F138277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857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Keyword, job-type and skill filters with sorting.</a:t>
            </a:r>
          </a:p>
        </p:txBody>
      </p:sp>
      <p:sp>
        <p:nvSpPr>
          <p:cNvPr id="10" name="text-79">
            <a:extLst xmlns:a="http://schemas.openxmlformats.org/drawingml/2006/main">
              <a:ext uri="{FF2B5EF4-FFF2-40B4-BE49-F238E27FC236}">
                <a16:creationId xmlns:a16="http://schemas.microsoft.com/office/drawing/2014/main" id="{A109111B-5198-40F1-AE2D-759A8D26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Apply and track</a:t>
            </a:r>
          </a:p>
        </p:txBody>
      </p:sp>
      <p:sp>
        <p:nvSpPr>
          <p:cNvPr id="11" name="text-80">
            <a:extLst xmlns:a="http://schemas.openxmlformats.org/drawingml/2006/main">
              <a:ext uri="{FF2B5EF4-FFF2-40B4-BE49-F238E27FC236}">
                <a16:creationId xmlns:a16="http://schemas.microsoft.com/office/drawing/2014/main" id="{3E34691F-A1B9-4390-88C0-ADC0B3F8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4857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Choose a resume, provide required documents and follow outcomes.</a:t>
            </a:r>
          </a:p>
        </p:txBody>
      </p:sp>
      <p:sp>
        <p:nvSpPr>
          <p:cNvPr id="12" name="box-81">
            <a:extLst xmlns:a="http://schemas.openxmlformats.org/drawingml/2006/main">
              <a:ext uri="{FF2B5EF4-FFF2-40B4-BE49-F238E27FC236}">
                <a16:creationId xmlns:a16="http://schemas.microsoft.com/office/drawing/2014/main" id="{D4D15264-291F-456C-B197-527E9ABF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486400" cy="3533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8D7"/>
            </a:solidFill>
            <a:prstDash val="dash"/>
          </a:ln>
        </p:spPr>
      </p:sp>
      <p:sp>
        <p:nvSpPr>
          <p:cNvPr id="13" name="text-82">
            <a:extLst xmlns:a="http://schemas.openxmlformats.org/drawingml/2006/main">
              <a:ext uri="{FF2B5EF4-FFF2-40B4-BE49-F238E27FC236}">
                <a16:creationId xmlns:a16="http://schemas.microsoft.com/office/drawing/2014/main" id="{1D06D299-919D-4AFF-8136-4D64FAD0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029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Student job feed</a:t>
            </a:r>
          </a:p>
        </p:txBody>
      </p:sp>
      <p:sp>
        <p:nvSpPr>
          <p:cNvPr id="14" name="text-83">
            <a:extLst xmlns:a="http://schemas.openxmlformats.org/drawingml/2006/main">
              <a:ext uri="{FF2B5EF4-FFF2-40B4-BE49-F238E27FC236}">
                <a16:creationId xmlns:a16="http://schemas.microsoft.com/office/drawing/2014/main" id="{8A0F70F9-E5A1-4470-88A5-97EB0C2E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62525"/>
            <a:ext cx="5029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Add job search or application-history screenshot</a:t>
            </a:r>
          </a:p>
        </p:txBody>
      </p:sp>
    </p:spTree>
    <p:extLst>
      <p:ext uri="{BB962C8B-B14F-4D97-AF65-F5344CB8AC3E}">
        <p14:creationId xmlns:p14="http://schemas.microsoft.com/office/powerpoint/2010/main" val="15619266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61A515B-5E1B-4FFA-A660-3C30A275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RECRUITER JOURNEY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B4AADB7E-8885-4DFC-B11A-9612A2FB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Approved recruiters publish jobs and review talent</a:t>
            </a:r>
          </a:p>
        </p:txBody>
      </p:sp>
      <p:sp>
        <p:nvSpPr>
          <p:cNvPr id="3" name="box-85">
            <a:extLst xmlns:a="http://schemas.openxmlformats.org/drawingml/2006/main">
              <a:ext uri="{FF2B5EF4-FFF2-40B4-BE49-F238E27FC236}">
                <a16:creationId xmlns:a16="http://schemas.microsoft.com/office/drawing/2014/main" id="{70069191-9C9E-4D24-8ACF-063BC16F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86">
            <a:extLst xmlns:a="http://schemas.openxmlformats.org/drawingml/2006/main">
              <a:ext uri="{FF2B5EF4-FFF2-40B4-BE49-F238E27FC236}">
                <a16:creationId xmlns:a16="http://schemas.microsoft.com/office/drawing/2014/main" id="{D48D9D63-A17D-474D-A696-7BB04B0D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2095E866-0AC6-45E0-9132-FF287298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FD02B2E5-CE97-44E0-A0A9-585EDA28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904875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89">
            <a:extLst xmlns:a="http://schemas.openxmlformats.org/drawingml/2006/main">
              <a:ext uri="{FF2B5EF4-FFF2-40B4-BE49-F238E27FC236}">
                <a16:creationId xmlns:a16="http://schemas.microsoft.com/office/drawing/2014/main" id="{651D859C-553B-493B-8AA4-7B2EAE03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162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Profile</a:t>
            </a:r>
          </a:p>
        </p:txBody>
      </p:sp>
      <p:sp>
        <p:nvSpPr>
          <p:cNvPr id="8" name="text-90">
            <a:extLst xmlns:a="http://schemas.openxmlformats.org/drawingml/2006/main">
              <a:ext uri="{FF2B5EF4-FFF2-40B4-BE49-F238E27FC236}">
                <a16:creationId xmlns:a16="http://schemas.microsoft.com/office/drawing/2014/main" id="{81F2BF0D-ACBA-4EA0-81B9-ABA1898C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62300" cy="404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Personal details, photo</a:t>
            </a:r>
          </a:p>
        </p:txBody>
      </p:sp>
      <p:sp>
        <p:nvSpPr>
          <p:cNvPr id="9" name="text-91">
            <a:extLst xmlns:a="http://schemas.openxmlformats.org/drawingml/2006/main">
              <a:ext uri="{FF2B5EF4-FFF2-40B4-BE49-F238E27FC236}">
                <a16:creationId xmlns:a16="http://schemas.microsoft.com/office/drawing/2014/main" id="{E0932FB7-BBCB-415C-95EC-B74E59D5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9063"/>
            <a:ext cx="3162300" cy="404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and company information</a:t>
            </a:r>
          </a:p>
        </p:txBody>
      </p:sp>
      <p:sp>
        <p:nvSpPr>
          <p:cNvPr id="10" name="box-92">
            <a:extLst xmlns:a="http://schemas.openxmlformats.org/drawingml/2006/main">
              <a:ext uri="{FF2B5EF4-FFF2-40B4-BE49-F238E27FC236}">
                <a16:creationId xmlns:a16="http://schemas.microsoft.com/office/drawing/2014/main" id="{E89F9F7B-EBEF-426C-8F72-D19B3594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1" name="text-93">
            <a:extLst xmlns:a="http://schemas.openxmlformats.org/drawingml/2006/main">
              <a:ext uri="{FF2B5EF4-FFF2-40B4-BE49-F238E27FC236}">
                <a16:creationId xmlns:a16="http://schemas.microsoft.com/office/drawing/2014/main" id="{54F354BE-FA22-4B28-A2C9-506704FE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904875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text-94">
            <a:extLst xmlns:a="http://schemas.openxmlformats.org/drawingml/2006/main">
              <a:ext uri="{FF2B5EF4-FFF2-40B4-BE49-F238E27FC236}">
                <a16:creationId xmlns:a16="http://schemas.microsoft.com/office/drawing/2014/main" id="{CED6A2B4-3D9D-4E44-B400-83E0C533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71800"/>
            <a:ext cx="3162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Approval</a:t>
            </a:r>
          </a:p>
        </p:txBody>
      </p:sp>
      <p:sp>
        <p:nvSpPr>
          <p:cNvPr id="13" name="text-95">
            <a:extLst xmlns:a="http://schemas.openxmlformats.org/drawingml/2006/main">
              <a:ext uri="{FF2B5EF4-FFF2-40B4-BE49-F238E27FC236}">
                <a16:creationId xmlns:a16="http://schemas.microsoft.com/office/drawing/2014/main" id="{A39B12F0-2AC7-4210-A707-2013D809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24250"/>
            <a:ext cx="3162300" cy="404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Recruiter and company</a:t>
            </a:r>
          </a:p>
        </p:txBody>
      </p:sp>
      <p:sp>
        <p:nvSpPr>
          <p:cNvPr id="14" name="text-96">
            <a:extLst xmlns:a="http://schemas.openxmlformats.org/drawingml/2006/main">
              <a:ext uri="{FF2B5EF4-FFF2-40B4-BE49-F238E27FC236}">
                <a16:creationId xmlns:a16="http://schemas.microsoft.com/office/drawing/2014/main" id="{01E47383-CA10-47D1-ABF4-5647C816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29063"/>
            <a:ext cx="3162300" cy="404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reviewed separately</a:t>
            </a:r>
          </a:p>
        </p:txBody>
      </p:sp>
      <p:sp>
        <p:nvSpPr>
          <p:cNvPr id="15" name="box-97">
            <a:extLst xmlns:a="http://schemas.openxmlformats.org/drawingml/2006/main">
              <a:ext uri="{FF2B5EF4-FFF2-40B4-BE49-F238E27FC236}">
                <a16:creationId xmlns:a16="http://schemas.microsoft.com/office/drawing/2014/main" id="{DEC63C45-FA7E-443F-A841-229D6579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146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6" name="text-98">
            <a:extLst xmlns:a="http://schemas.openxmlformats.org/drawingml/2006/main">
              <a:ext uri="{FF2B5EF4-FFF2-40B4-BE49-F238E27FC236}">
                <a16:creationId xmlns:a16="http://schemas.microsoft.com/office/drawing/2014/main" id="{F79A3C9E-AD32-4C97-AC8A-C747148D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904875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7" name="text-99">
            <a:extLst xmlns:a="http://schemas.openxmlformats.org/drawingml/2006/main">
              <a:ext uri="{FF2B5EF4-FFF2-40B4-BE49-F238E27FC236}">
                <a16:creationId xmlns:a16="http://schemas.microsoft.com/office/drawing/2014/main" id="{1DBBD313-6FB9-4BEA-8E1F-93506D27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3162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Recruitment</a:t>
            </a:r>
          </a:p>
        </p:txBody>
      </p:sp>
      <p:sp>
        <p:nvSpPr>
          <p:cNvPr id="18" name="text-100">
            <a:extLst xmlns:a="http://schemas.openxmlformats.org/drawingml/2006/main">
              <a:ext uri="{FF2B5EF4-FFF2-40B4-BE49-F238E27FC236}">
                <a16:creationId xmlns:a16="http://schemas.microsoft.com/office/drawing/2014/main" id="{4648C5CC-493B-4EFB-86D2-65525119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3162300" cy="404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Publish vacancies, review</a:t>
            </a:r>
          </a:p>
        </p:txBody>
      </p:sp>
      <p:sp>
        <p:nvSpPr>
          <p:cNvPr id="19" name="text-101">
            <a:extLst xmlns:a="http://schemas.openxmlformats.org/drawingml/2006/main">
              <a:ext uri="{FF2B5EF4-FFF2-40B4-BE49-F238E27FC236}">
                <a16:creationId xmlns:a16="http://schemas.microsoft.com/office/drawing/2014/main" id="{22591F2D-580F-408C-BE0A-2FBBFEE4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9063"/>
            <a:ext cx="3162300" cy="404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applicants and search talent</a:t>
            </a:r>
          </a:p>
        </p:txBody>
      </p:sp>
      <p:sp>
        <p:nvSpPr>
          <p:cNvPr id="20" name="box-102">
            <a:extLst xmlns:a="http://schemas.openxmlformats.org/drawingml/2006/main">
              <a:ext uri="{FF2B5EF4-FFF2-40B4-BE49-F238E27FC236}">
                <a16:creationId xmlns:a16="http://schemas.microsoft.com/office/drawing/2014/main" id="{9F3F170B-B2B8-44C2-8131-157FB2D2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146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21" name="box-103">
            <a:extLst xmlns:a="http://schemas.openxmlformats.org/drawingml/2006/main">
              <a:ext uri="{FF2B5EF4-FFF2-40B4-BE49-F238E27FC236}">
                <a16:creationId xmlns:a16="http://schemas.microsoft.com/office/drawing/2014/main" id="{524F59F2-C73F-41FA-8847-C6E3C760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F"/>
          </a:solidFill>
        </p:spPr>
      </p:sp>
      <p:sp>
        <p:nvSpPr>
          <p:cNvPr id="22" name="text-104">
            <a:extLst xmlns:a="http://schemas.openxmlformats.org/drawingml/2006/main">
              <a:ext uri="{FF2B5EF4-FFF2-40B4-BE49-F238E27FC236}">
                <a16:creationId xmlns:a16="http://schemas.microsoft.com/office/drawing/2014/main" id="{9FBE0E41-0489-4079-93C4-365CC758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047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Verified students can appear in the talent directory even with incomplete profiles.</a:t>
            </a:r>
          </a:p>
        </p:txBody>
      </p:sp>
    </p:spTree>
    <p:extLst>
      <p:ext uri="{BB962C8B-B14F-4D97-AF65-F5344CB8AC3E}">
        <p14:creationId xmlns:p14="http://schemas.microsoft.com/office/powerpoint/2010/main" val="1671076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BF34E28-6737-4C95-A216-968B18C4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CFC2"/>
                </a:solidFill>
                <a:latin typeface="Arial"/>
                <a:ea typeface="Arial"/>
                <a:cs typeface="Arial"/>
              </a:defRPr>
            </a:pPr>
            <a:r>
              <a:t>ADMINISTRATION</a:t>
            </a:r>
          </a:p>
        </p:txBody>
      </p:sp>
      <p:sp>
        <p:nvSpPr>
          <p:cNvPr id="2" name="text-105">
            <a:extLst xmlns:a="http://schemas.openxmlformats.org/drawingml/2006/main">
              <a:ext uri="{FF2B5EF4-FFF2-40B4-BE49-F238E27FC236}">
                <a16:creationId xmlns:a16="http://schemas.microsoft.com/office/drawing/2014/main" id="{01CB528F-3C56-4EBA-B842-6588B0F4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 custom dashboard makes oversight explicit</a:t>
            </a:r>
          </a:p>
        </p:txBody>
      </p:sp>
      <p:sp>
        <p:nvSpPr>
          <p:cNvPr id="3" name="box-106">
            <a:extLst xmlns:a="http://schemas.openxmlformats.org/drawingml/2006/main">
              <a:ext uri="{FF2B5EF4-FFF2-40B4-BE49-F238E27FC236}">
                <a16:creationId xmlns:a16="http://schemas.microsoft.com/office/drawing/2014/main" id="{DB62EB10-34DE-46BE-BB19-EEA4F54F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A"/>
          </a:solidFill>
        </p:spPr>
      </p:sp>
      <p:sp>
        <p:nvSpPr>
          <p:cNvPr id="4" name="text-107">
            <a:extLst xmlns:a="http://schemas.openxmlformats.org/drawingml/2006/main">
              <a:ext uri="{FF2B5EF4-FFF2-40B4-BE49-F238E27FC236}">
                <a16:creationId xmlns:a16="http://schemas.microsoft.com/office/drawing/2014/main" id="{4115ED7D-AA8E-4C73-BF3C-36F8399D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EBF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108">
            <a:extLst xmlns:a="http://schemas.openxmlformats.org/drawingml/2006/main">
              <a:ext uri="{FF2B5EF4-FFF2-40B4-BE49-F238E27FC236}">
                <a16:creationId xmlns:a16="http://schemas.microsoft.com/office/drawing/2014/main" id="{1CB4E96C-6993-4962-A9C0-3A3AEC0D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FBEBF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6" name="text-109">
            <a:extLst xmlns:a="http://schemas.openxmlformats.org/drawingml/2006/main">
              <a:ext uri="{FF2B5EF4-FFF2-40B4-BE49-F238E27FC236}">
                <a16:creationId xmlns:a16="http://schemas.microsoft.com/office/drawing/2014/main" id="{49779058-600C-4093-9290-31CDD188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619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78CFC2"/>
                </a:solidFill>
                <a:latin typeface="Arial"/>
                <a:ea typeface="Arial"/>
                <a:cs typeface="Arial"/>
              </a:defRPr>
            </a:pPr>
            <a:r>
              <a:t>/dashboard</a:t>
            </a:r>
          </a:p>
        </p:txBody>
      </p:sp>
      <p:sp>
        <p:nvSpPr>
          <p:cNvPr id="7" name="text-110">
            <a:extLst xmlns:a="http://schemas.openxmlformats.org/drawingml/2006/main">
              <a:ext uri="{FF2B5EF4-FFF2-40B4-BE49-F238E27FC236}">
                <a16:creationId xmlns:a16="http://schemas.microsoft.com/office/drawing/2014/main" id="{D293A1E2-7678-43C4-8A22-4B0FF6AB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619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 dedicated superuser interface</a:t>
            </a:r>
          </a:p>
        </p:txBody>
      </p:sp>
      <p:sp>
        <p:nvSpPr>
          <p:cNvPr id="8" name="text-111">
            <a:extLst xmlns:a="http://schemas.openxmlformats.org/drawingml/2006/main">
              <a:ext uri="{FF2B5EF4-FFF2-40B4-BE49-F238E27FC236}">
                <a16:creationId xmlns:a16="http://schemas.microsoft.com/office/drawing/2014/main" id="{E4F9416F-25AE-43FD-B5D8-0078C183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91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Inspect</a:t>
            </a:r>
          </a:p>
        </p:txBody>
      </p:sp>
      <p:sp>
        <p:nvSpPr>
          <p:cNvPr id="9" name="text-112">
            <a:extLst xmlns:a="http://schemas.openxmlformats.org/drawingml/2006/main">
              <a:ext uri="{FF2B5EF4-FFF2-40B4-BE49-F238E27FC236}">
                <a16:creationId xmlns:a16="http://schemas.microsoft.com/office/drawing/2014/main" id="{92091405-BAE9-431E-98D8-DB4E7D5D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4914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DD3D4"/>
                </a:solidFill>
                <a:latin typeface="Arial"/>
                <a:ea typeface="Arial"/>
                <a:cs typeface="Arial"/>
              </a:defRPr>
            </a:pPr>
            <a:r>
              <a:t>Overview counts and searchable records.</a:t>
            </a:r>
          </a:p>
        </p:txBody>
      </p:sp>
      <p:sp>
        <p:nvSpPr>
          <p:cNvPr id="10" name="text-113">
            <a:extLst xmlns:a="http://schemas.openxmlformats.org/drawingml/2006/main">
              <a:ext uri="{FF2B5EF4-FFF2-40B4-BE49-F238E27FC236}">
                <a16:creationId xmlns:a16="http://schemas.microsoft.com/office/drawing/2014/main" id="{B7AB4ADD-208A-468D-B415-63652800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91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Review</a:t>
            </a:r>
          </a:p>
        </p:txBody>
      </p:sp>
      <p:sp>
        <p:nvSpPr>
          <p:cNvPr id="11" name="text-114">
            <a:extLst xmlns:a="http://schemas.openxmlformats.org/drawingml/2006/main">
              <a:ext uri="{FF2B5EF4-FFF2-40B4-BE49-F238E27FC236}">
                <a16:creationId xmlns:a16="http://schemas.microsoft.com/office/drawing/2014/main" id="{BC6771E1-1791-47DA-8A0F-5C12877C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4914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DD3D4"/>
                </a:solidFill>
                <a:latin typeface="Arial"/>
                <a:ea typeface="Arial"/>
                <a:cs typeface="Arial"/>
              </a:defRPr>
            </a:pPr>
            <a:r>
              <a:t>Verify email; approve recruiter and company.</a:t>
            </a:r>
          </a:p>
        </p:txBody>
      </p:sp>
      <p:sp>
        <p:nvSpPr>
          <p:cNvPr id="12" name="text-115">
            <a:extLst xmlns:a="http://schemas.openxmlformats.org/drawingml/2006/main">
              <a:ext uri="{FF2B5EF4-FFF2-40B4-BE49-F238E27FC236}">
                <a16:creationId xmlns:a16="http://schemas.microsoft.com/office/drawing/2014/main" id="{CEE6DE77-FC27-40AE-B836-579A0008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491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Protect</a:t>
            </a:r>
          </a:p>
        </p:txBody>
      </p:sp>
      <p:sp>
        <p:nvSpPr>
          <p:cNvPr id="13" name="text-116">
            <a:extLst xmlns:a="http://schemas.openxmlformats.org/drawingml/2006/main">
              <a:ext uri="{FF2B5EF4-FFF2-40B4-BE49-F238E27FC236}">
                <a16:creationId xmlns:a16="http://schemas.microsoft.com/office/drawing/2014/main" id="{F5897048-7F0B-47CC-B7EE-3E5C17D8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4914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DD3D4"/>
                </a:solidFill>
                <a:latin typeface="Arial"/>
                <a:ea typeface="Arial"/>
                <a:cs typeface="Arial"/>
              </a:defRPr>
            </a:pPr>
            <a:r>
              <a:t>Exact-email deletion confirmation and audit logs.</a:t>
            </a:r>
          </a:p>
        </p:txBody>
      </p:sp>
      <p:sp>
        <p:nvSpPr>
          <p:cNvPr id="14" name="text-117">
            <a:extLst xmlns:a="http://schemas.openxmlformats.org/drawingml/2006/main">
              <a:ext uri="{FF2B5EF4-FFF2-40B4-BE49-F238E27FC236}">
                <a16:creationId xmlns:a16="http://schemas.microsoft.com/office/drawing/2014/main" id="{30771B08-B2C1-4D68-8DA2-BA78F717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5524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DD3D4"/>
                </a:solidFill>
                <a:latin typeface="Arial"/>
                <a:ea typeface="Arial"/>
                <a:cs typeface="Arial"/>
              </a:defRPr>
            </a:pPr>
            <a:r>
              <a:t>Django Admin remains available for rejection and advanced editing.</a:t>
            </a:r>
          </a:p>
        </p:txBody>
      </p:sp>
    </p:spTree>
    <p:extLst>
      <p:ext uri="{BB962C8B-B14F-4D97-AF65-F5344CB8AC3E}">
        <p14:creationId xmlns:p14="http://schemas.microsoft.com/office/powerpoint/2010/main" val="677932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15F15E5-9933-49AA-9E78-46C11B92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ACCOUNT VERIFICATION</a:t>
            </a:r>
          </a:p>
        </p:txBody>
      </p:sp>
      <p:sp>
        <p:nvSpPr>
          <p:cNvPr id="2" name="text-118">
            <a:extLst xmlns:a="http://schemas.openxmlformats.org/drawingml/2006/main">
              <a:ext uri="{FF2B5EF4-FFF2-40B4-BE49-F238E27FC236}">
                <a16:creationId xmlns:a16="http://schemas.microsoft.com/office/drawing/2014/main" id="{240C5A45-652E-41CA-9094-94294487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A six-digit code verifies ownership of an email</a:t>
            </a:r>
          </a:p>
        </p:txBody>
      </p:sp>
      <p:sp>
        <p:nvSpPr>
          <p:cNvPr id="3" name="box-119">
            <a:extLst xmlns:a="http://schemas.openxmlformats.org/drawingml/2006/main">
              <a:ext uri="{FF2B5EF4-FFF2-40B4-BE49-F238E27FC236}">
                <a16:creationId xmlns:a16="http://schemas.microsoft.com/office/drawing/2014/main" id="{BCA7AC20-1A90-49C5-8BE7-8A3568FC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120">
            <a:extLst xmlns:a="http://schemas.openxmlformats.org/drawingml/2006/main">
              <a:ext uri="{FF2B5EF4-FFF2-40B4-BE49-F238E27FC236}">
                <a16:creationId xmlns:a16="http://schemas.microsoft.com/office/drawing/2014/main" id="{B6D23115-CD25-403B-9A63-BDCBF21E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121">
            <a:extLst xmlns:a="http://schemas.openxmlformats.org/drawingml/2006/main">
              <a:ext uri="{FF2B5EF4-FFF2-40B4-BE49-F238E27FC236}">
                <a16:creationId xmlns:a16="http://schemas.microsoft.com/office/drawing/2014/main" id="{3BB157A2-503B-404E-8795-31191205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6" name="text-122">
            <a:extLst xmlns:a="http://schemas.openxmlformats.org/drawingml/2006/main">
              <a:ext uri="{FF2B5EF4-FFF2-40B4-BE49-F238E27FC236}">
                <a16:creationId xmlns:a16="http://schemas.microsoft.com/office/drawing/2014/main" id="{96F7ED84-F702-4BF5-B42E-AA614A0A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337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7" name="text-123">
            <a:extLst xmlns:a="http://schemas.openxmlformats.org/drawingml/2006/main">
              <a:ext uri="{FF2B5EF4-FFF2-40B4-BE49-F238E27FC236}">
                <a16:creationId xmlns:a16="http://schemas.microsoft.com/office/drawing/2014/main" id="{26BB56D6-B7BD-4FDF-80D8-B397EDC3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digits</a:t>
            </a:r>
          </a:p>
        </p:txBody>
      </p:sp>
      <p:sp>
        <p:nvSpPr>
          <p:cNvPr id="8" name="text-124">
            <a:extLst xmlns:a="http://schemas.openxmlformats.org/drawingml/2006/main">
              <a:ext uri="{FF2B5EF4-FFF2-40B4-BE49-F238E27FC236}">
                <a16:creationId xmlns:a16="http://schemas.microsoft.com/office/drawing/2014/main" id="{EEF6BDE1-07D8-4902-BCD3-957FC3F2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333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Email verification code</a:t>
            </a:r>
          </a:p>
        </p:txBody>
      </p:sp>
      <p:sp>
        <p:nvSpPr>
          <p:cNvPr id="9" name="text-125">
            <a:extLst xmlns:a="http://schemas.openxmlformats.org/drawingml/2006/main">
              <a:ext uri="{FF2B5EF4-FFF2-40B4-BE49-F238E27FC236}">
                <a16:creationId xmlns:a16="http://schemas.microsoft.com/office/drawing/2014/main" id="{6D71B354-A06B-4DA3-A844-47649C73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95500"/>
            <a:ext cx="33337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10" name="text-126">
            <a:extLst xmlns:a="http://schemas.openxmlformats.org/drawingml/2006/main">
              <a:ext uri="{FF2B5EF4-FFF2-40B4-BE49-F238E27FC236}">
                <a16:creationId xmlns:a16="http://schemas.microsoft.com/office/drawing/2014/main" id="{C3A22C01-6013-4BA9-AC10-4274BD5E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457575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minutes</a:t>
            </a:r>
          </a:p>
        </p:txBody>
      </p:sp>
      <p:sp>
        <p:nvSpPr>
          <p:cNvPr id="11" name="text-127">
            <a:extLst xmlns:a="http://schemas.openxmlformats.org/drawingml/2006/main">
              <a:ext uri="{FF2B5EF4-FFF2-40B4-BE49-F238E27FC236}">
                <a16:creationId xmlns:a16="http://schemas.microsoft.com/office/drawing/2014/main" id="{B23B8594-9E8D-4BCE-9D6D-B184154F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029075"/>
            <a:ext cx="333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Code validity</a:t>
            </a:r>
          </a:p>
        </p:txBody>
      </p:sp>
      <p:sp>
        <p:nvSpPr>
          <p:cNvPr id="12" name="text-128">
            <a:extLst xmlns:a="http://schemas.openxmlformats.org/drawingml/2006/main">
              <a:ext uri="{FF2B5EF4-FFF2-40B4-BE49-F238E27FC236}">
                <a16:creationId xmlns:a16="http://schemas.microsoft.com/office/drawing/2014/main" id="{65ABB183-3EB9-488F-80CB-A0236FB3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33337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13" name="text-129">
            <a:extLst xmlns:a="http://schemas.openxmlformats.org/drawingml/2006/main">
              <a:ext uri="{FF2B5EF4-FFF2-40B4-BE49-F238E27FC236}">
                <a16:creationId xmlns:a16="http://schemas.microsoft.com/office/drawing/2014/main" id="{19BF4B31-C656-49A8-A7A7-B930B25D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57575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attempts</a:t>
            </a:r>
          </a:p>
        </p:txBody>
      </p:sp>
      <p:sp>
        <p:nvSpPr>
          <p:cNvPr id="14" name="text-130">
            <a:extLst xmlns:a="http://schemas.openxmlformats.org/drawingml/2006/main">
              <a:ext uri="{FF2B5EF4-FFF2-40B4-BE49-F238E27FC236}">
                <a16:creationId xmlns:a16="http://schemas.microsoft.com/office/drawing/2014/main" id="{0067B88F-6D7C-411E-ACE1-7CB088A4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29075"/>
            <a:ext cx="333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Incorrect-code limit</a:t>
            </a:r>
          </a:p>
        </p:txBody>
      </p:sp>
      <p:sp>
        <p:nvSpPr>
          <p:cNvPr id="15" name="box-131">
            <a:extLst xmlns:a="http://schemas.openxmlformats.org/drawingml/2006/main">
              <a:ext uri="{FF2B5EF4-FFF2-40B4-BE49-F238E27FC236}">
                <a16:creationId xmlns:a16="http://schemas.microsoft.com/office/drawing/2014/main" id="{26B3D533-C6E1-4E0A-ABDF-DB1811C8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6" name="text-132">
            <a:extLst xmlns:a="http://schemas.openxmlformats.org/drawingml/2006/main">
              <a:ext uri="{FF2B5EF4-FFF2-40B4-BE49-F238E27FC236}">
                <a16:creationId xmlns:a16="http://schemas.microsoft.com/office/drawing/2014/main" id="{C1916F80-F520-46CA-A65B-7CB411CF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50958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60-second resend cooldown</a:t>
            </a:r>
          </a:p>
        </p:txBody>
      </p:sp>
      <p:sp>
        <p:nvSpPr>
          <p:cNvPr id="17" name="text-133">
            <a:extLst xmlns:a="http://schemas.openxmlformats.org/drawingml/2006/main">
              <a:ext uri="{FF2B5EF4-FFF2-40B4-BE49-F238E27FC236}">
                <a16:creationId xmlns:a16="http://schemas.microsoft.com/office/drawing/2014/main" id="{01C30070-BCC6-4247-A6DD-CCC68EAB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9700"/>
            <a:ext cx="520065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Verifying an email does not approve a recruiter or company.</a:t>
            </a:r>
          </a:p>
        </p:txBody>
      </p:sp>
    </p:spTree>
    <p:extLst>
      <p:ext uri="{BB962C8B-B14F-4D97-AF65-F5344CB8AC3E}">
        <p14:creationId xmlns:p14="http://schemas.microsoft.com/office/powerpoint/2010/main" val="422696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158A5CF-64B8-4C08-B5DD-4D230FC3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PRIVATE DOCUMENTS</a:t>
            </a:r>
          </a:p>
        </p:txBody>
      </p:sp>
      <p:sp>
        <p:nvSpPr>
          <p:cNvPr id="2" name="text-134">
            <a:extLst xmlns:a="http://schemas.openxmlformats.org/drawingml/2006/main">
              <a:ext uri="{FF2B5EF4-FFF2-40B4-BE49-F238E27FC236}">
                <a16:creationId xmlns:a16="http://schemas.microsoft.com/office/drawing/2014/main" id="{0A134CBA-6E9C-4F64-8CCF-1F1FB8F6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Submitted resumes remain stable and protected</a:t>
            </a:r>
          </a:p>
        </p:txBody>
      </p:sp>
      <p:sp>
        <p:nvSpPr>
          <p:cNvPr id="3" name="box-135">
            <a:extLst xmlns:a="http://schemas.openxmlformats.org/drawingml/2006/main">
              <a:ext uri="{FF2B5EF4-FFF2-40B4-BE49-F238E27FC236}">
                <a16:creationId xmlns:a16="http://schemas.microsoft.com/office/drawing/2014/main" id="{0DC78EFC-560A-407F-8DC3-8C14DD45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136">
            <a:extLst xmlns:a="http://schemas.openxmlformats.org/drawingml/2006/main">
              <a:ext uri="{FF2B5EF4-FFF2-40B4-BE49-F238E27FC236}">
                <a16:creationId xmlns:a16="http://schemas.microsoft.com/office/drawing/2014/main" id="{0FF5AA85-79B7-4394-94BF-2BF74844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137">
            <a:extLst xmlns:a="http://schemas.openxmlformats.org/drawingml/2006/main">
              <a:ext uri="{FF2B5EF4-FFF2-40B4-BE49-F238E27FC236}">
                <a16:creationId xmlns:a16="http://schemas.microsoft.com/office/drawing/2014/main" id="{E7194B64-6CF9-49E6-8A74-F64C1822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6" name="box-138">
            <a:extLst xmlns:a="http://schemas.openxmlformats.org/drawingml/2006/main">
              <a:ext uri="{FF2B5EF4-FFF2-40B4-BE49-F238E27FC236}">
                <a16:creationId xmlns:a16="http://schemas.microsoft.com/office/drawing/2014/main" id="{CB74EF4F-664A-45DE-99C7-39F836D2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0956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F"/>
          </a:solidFill>
        </p:spPr>
      </p:sp>
      <p:sp>
        <p:nvSpPr>
          <p:cNvPr id="7" name="text-139">
            <a:extLst xmlns:a="http://schemas.openxmlformats.org/drawingml/2006/main">
              <a:ext uri="{FF2B5EF4-FFF2-40B4-BE49-F238E27FC236}">
                <a16:creationId xmlns:a16="http://schemas.microsoft.com/office/drawing/2014/main" id="{C0CDEADD-6646-45E8-AA67-146A122D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714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Profile resume</a:t>
            </a:r>
          </a:p>
        </p:txBody>
      </p:sp>
      <p:sp>
        <p:nvSpPr>
          <p:cNvPr id="8" name="text-140">
            <a:extLst xmlns:a="http://schemas.openxmlformats.org/drawingml/2006/main">
              <a:ext uri="{FF2B5EF4-FFF2-40B4-BE49-F238E27FC236}">
                <a16:creationId xmlns:a16="http://schemas.microsoft.com/office/drawing/2014/main" id="{F30DF0AF-19F0-46F2-8971-581772ED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714625" cy="595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Students may upload a PDF</a:t>
            </a:r>
          </a:p>
        </p:txBody>
      </p:sp>
      <p:sp>
        <p:nvSpPr>
          <p:cNvPr id="9" name="text-141">
            <a:extLst xmlns:a="http://schemas.openxmlformats.org/drawingml/2006/main">
              <a:ext uri="{FF2B5EF4-FFF2-40B4-BE49-F238E27FC236}">
                <a16:creationId xmlns:a16="http://schemas.microsoft.com/office/drawing/2014/main" id="{91E07499-C042-4375-843C-F7CA7634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3313"/>
            <a:ext cx="2714625" cy="595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or use a saved resume.</a:t>
            </a:r>
          </a:p>
        </p:txBody>
      </p:sp>
      <p:sp>
        <p:nvSpPr>
          <p:cNvPr id="10" name="box-142">
            <a:extLst xmlns:a="http://schemas.openxmlformats.org/drawingml/2006/main">
              <a:ext uri="{FF2B5EF4-FFF2-40B4-BE49-F238E27FC236}">
                <a16:creationId xmlns:a16="http://schemas.microsoft.com/office/drawing/2014/main" id="{70CD82E4-C999-4BBD-985C-6A00458B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24100"/>
            <a:ext cx="30956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F"/>
          </a:solidFill>
        </p:spPr>
      </p:sp>
      <p:sp>
        <p:nvSpPr>
          <p:cNvPr id="11" name="text-143">
            <a:extLst xmlns:a="http://schemas.openxmlformats.org/drawingml/2006/main">
              <a:ext uri="{FF2B5EF4-FFF2-40B4-BE49-F238E27FC236}">
                <a16:creationId xmlns:a16="http://schemas.microsoft.com/office/drawing/2014/main" id="{B88E1AB2-F1AA-4963-BE1A-B6770281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33650"/>
            <a:ext cx="2714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Application snapshot</a:t>
            </a:r>
          </a:p>
        </p:txBody>
      </p:sp>
      <p:sp>
        <p:nvSpPr>
          <p:cNvPr id="12" name="text-144">
            <a:extLst xmlns:a="http://schemas.openxmlformats.org/drawingml/2006/main">
              <a:ext uri="{FF2B5EF4-FFF2-40B4-BE49-F238E27FC236}">
                <a16:creationId xmlns:a16="http://schemas.microsoft.com/office/drawing/2014/main" id="{3D518F8D-DE12-4B43-83E4-1E9FA2DC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48000"/>
            <a:ext cx="2714625" cy="595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The submitted file is kept</a:t>
            </a:r>
          </a:p>
        </p:txBody>
      </p:sp>
      <p:sp>
        <p:nvSpPr>
          <p:cNvPr id="13" name="text-145">
            <a:extLst xmlns:a="http://schemas.openxmlformats.org/drawingml/2006/main">
              <a:ext uri="{FF2B5EF4-FFF2-40B4-BE49-F238E27FC236}">
                <a16:creationId xmlns:a16="http://schemas.microsoft.com/office/drawing/2014/main" id="{86A7DE05-C6C6-4665-B98E-583F2EA9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43313"/>
            <a:ext cx="2714625" cy="595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when the profile changes.</a:t>
            </a:r>
          </a:p>
        </p:txBody>
      </p:sp>
      <p:sp>
        <p:nvSpPr>
          <p:cNvPr id="14" name="box-146">
            <a:extLst xmlns:a="http://schemas.openxmlformats.org/drawingml/2006/main">
              <a:ext uri="{FF2B5EF4-FFF2-40B4-BE49-F238E27FC236}">
                <a16:creationId xmlns:a16="http://schemas.microsoft.com/office/drawing/2014/main" id="{91ADADD8-98C0-42F8-AD9E-6C3D4FEF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24100"/>
            <a:ext cx="30956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F"/>
          </a:solidFill>
        </p:spPr>
      </p:sp>
      <p:sp>
        <p:nvSpPr>
          <p:cNvPr id="15" name="text-147">
            <a:extLst xmlns:a="http://schemas.openxmlformats.org/drawingml/2006/main">
              <a:ext uri="{FF2B5EF4-FFF2-40B4-BE49-F238E27FC236}">
                <a16:creationId xmlns:a16="http://schemas.microsoft.com/office/drawing/2014/main" id="{42DC34F8-7D0A-44B5-8A66-244AFACE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533650"/>
            <a:ext cx="2714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Private download</a:t>
            </a:r>
          </a:p>
        </p:txBody>
      </p:sp>
      <p:sp>
        <p:nvSpPr>
          <p:cNvPr id="16" name="text-148">
            <a:extLst xmlns:a="http://schemas.openxmlformats.org/drawingml/2006/main">
              <a:ext uri="{FF2B5EF4-FFF2-40B4-BE49-F238E27FC236}">
                <a16:creationId xmlns:a16="http://schemas.microsoft.com/office/drawing/2014/main" id="{EF595417-B7BA-4648-ADD4-23DA0674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048000"/>
            <a:ext cx="2714625" cy="595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Authorized access only;</a:t>
            </a:r>
          </a:p>
        </p:txBody>
      </p:sp>
      <p:sp>
        <p:nvSpPr>
          <p:cNvPr id="17" name="text-149">
            <a:extLst xmlns:a="http://schemas.openxmlformats.org/drawingml/2006/main">
              <a:ext uri="{FF2B5EF4-FFF2-40B4-BE49-F238E27FC236}">
                <a16:creationId xmlns:a16="http://schemas.microsoft.com/office/drawing/2014/main" id="{61C2158F-8632-42EF-B831-6B760DB1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643313"/>
            <a:ext cx="2714625" cy="595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private, no-store response.</a:t>
            </a:r>
          </a:p>
        </p:txBody>
      </p:sp>
      <p:cxnSp>
        <p:nvCxnSpPr>
          <p:cNvPr id="18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705225" y="3338513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78"/>
            </a:solidFill>
            <a:headEnd type="none" w="med" len="med"/>
            <a:tailEnd type="none" w="med" len="med"/>
          </a:ln>
        </p:spPr>
      </p:cxnSp>
      <p:cxnSp>
        <p:nvCxnSpPr>
          <p:cNvPr id="19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648575" y="3338513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78"/>
            </a:solidFill>
            <a:headEnd type="none" w="med" len="med"/>
            <a:tailEnd type="none" w="med" len="med"/>
          </a:ln>
        </p:spPr>
      </p:cxnSp>
      <p:sp>
        <p:nvSpPr>
          <p:cNvPr id="20" name="text-150">
            <a:extLst xmlns:a="http://schemas.openxmlformats.org/drawingml/2006/main">
              <a:ext uri="{FF2B5EF4-FFF2-40B4-BE49-F238E27FC236}">
                <a16:creationId xmlns:a16="http://schemas.microsoft.com/office/drawing/2014/main" id="{67840E42-27D8-476A-BD4C-4CD70A50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31908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PDF limit: 5 MB</a:t>
            </a:r>
          </a:p>
        </p:txBody>
      </p:sp>
      <p:sp>
        <p:nvSpPr>
          <p:cNvPr id="21" name="text-151">
            <a:extLst xmlns:a="http://schemas.openxmlformats.org/drawingml/2006/main">
              <a:ext uri="{FF2B5EF4-FFF2-40B4-BE49-F238E27FC236}">
                <a16:creationId xmlns:a16="http://schemas.microsoft.com/office/drawing/2014/main" id="{A523E65D-7D0E-4E96-A82D-E3F0CD48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95850"/>
            <a:ext cx="685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One application per student–job pair</a:t>
            </a:r>
          </a:p>
        </p:txBody>
      </p:sp>
      <p:sp>
        <p:nvSpPr>
          <p:cNvPr id="22" name="text-152">
            <a:extLst xmlns:a="http://schemas.openxmlformats.org/drawingml/2006/main">
              <a:ext uri="{FF2B5EF4-FFF2-40B4-BE49-F238E27FC236}">
                <a16:creationId xmlns:a16="http://schemas.microsoft.com/office/drawing/2014/main" id="{847C9D87-14A9-44CD-8785-6FCDBEC2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Missing files return not found. Uploaded images accept JPEG, PNG or WebP up to 2 MB.</a:t>
            </a:r>
          </a:p>
        </p:txBody>
      </p:sp>
    </p:spTree>
    <p:extLst>
      <p:ext uri="{BB962C8B-B14F-4D97-AF65-F5344CB8AC3E}">
        <p14:creationId xmlns:p14="http://schemas.microsoft.com/office/powerpoint/2010/main" val="509838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7832251-5F6D-48B0-BE49-3E3BC525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INTERFACE</a:t>
            </a:r>
          </a:p>
        </p:txBody>
      </p:sp>
      <p:sp>
        <p:nvSpPr>
          <p:cNvPr id="2" name="text-153">
            <a:extLst xmlns:a="http://schemas.openxmlformats.org/drawingml/2006/main">
              <a:ext uri="{FF2B5EF4-FFF2-40B4-BE49-F238E27FC236}">
                <a16:creationId xmlns:a16="http://schemas.microsoft.com/office/drawing/2014/main" id="{856C4072-C31F-478C-BE58-5C1F99D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The interface adapts while notifications stay private</a:t>
            </a:r>
          </a:p>
        </p:txBody>
      </p:sp>
      <p:sp>
        <p:nvSpPr>
          <p:cNvPr id="3" name="box-154">
            <a:extLst xmlns:a="http://schemas.openxmlformats.org/drawingml/2006/main">
              <a:ext uri="{FF2B5EF4-FFF2-40B4-BE49-F238E27FC236}">
                <a16:creationId xmlns:a16="http://schemas.microsoft.com/office/drawing/2014/main" id="{0A36769E-6DCE-4330-9480-E8FCE931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155">
            <a:extLst xmlns:a="http://schemas.openxmlformats.org/drawingml/2006/main">
              <a:ext uri="{FF2B5EF4-FFF2-40B4-BE49-F238E27FC236}">
                <a16:creationId xmlns:a16="http://schemas.microsoft.com/office/drawing/2014/main" id="{44978783-BB43-4312-BD20-799FB16B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156">
            <a:extLst xmlns:a="http://schemas.openxmlformats.org/drawingml/2006/main">
              <a:ext uri="{FF2B5EF4-FFF2-40B4-BE49-F238E27FC236}">
                <a16:creationId xmlns:a16="http://schemas.microsoft.com/office/drawing/2014/main" id="{1AA59D86-912E-4255-9599-09366BC4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6" name="text-157">
            <a:extLst xmlns:a="http://schemas.openxmlformats.org/drawingml/2006/main">
              <a:ext uri="{FF2B5EF4-FFF2-40B4-BE49-F238E27FC236}">
                <a16:creationId xmlns:a16="http://schemas.microsoft.com/office/drawing/2014/main" id="{4BEDCC5E-0232-47F2-93B4-4B84FBB6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000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Light and dark themes</a:t>
            </a:r>
          </a:p>
        </p:txBody>
      </p:sp>
      <p:sp>
        <p:nvSpPr>
          <p:cNvPr id="7" name="text-158">
            <a:extLst xmlns:a="http://schemas.openxmlformats.org/drawingml/2006/main">
              <a:ext uri="{FF2B5EF4-FFF2-40B4-BE49-F238E27FC236}">
                <a16:creationId xmlns:a16="http://schemas.microsoft.com/office/drawing/2014/main" id="{44B95E8B-1B0F-4F50-A3BA-4355C3F7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0006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Display preference stays in the browser.</a:t>
            </a:r>
          </a:p>
        </p:txBody>
      </p:sp>
      <p:sp>
        <p:nvSpPr>
          <p:cNvPr id="8" name="text-159">
            <a:extLst xmlns:a="http://schemas.openxmlformats.org/drawingml/2006/main">
              <a:ext uri="{FF2B5EF4-FFF2-40B4-BE49-F238E27FC236}">
                <a16:creationId xmlns:a16="http://schemas.microsoft.com/office/drawing/2014/main" id="{3B12007A-4C9D-427E-BB1B-34D0A946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000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Clear waiting feedback</a:t>
            </a:r>
          </a:p>
        </p:txBody>
      </p:sp>
      <p:sp>
        <p:nvSpPr>
          <p:cNvPr id="9" name="text-160">
            <a:extLst xmlns:a="http://schemas.openxmlformats.org/drawingml/2006/main">
              <a:ext uri="{FF2B5EF4-FFF2-40B4-BE49-F238E27FC236}">
                <a16:creationId xmlns:a16="http://schemas.microsoft.com/office/drawing/2014/main" id="{1E428986-1DEE-4A31-AED9-6183E5CB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0006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A notice appears after eight seconds of a slow request.</a:t>
            </a:r>
          </a:p>
        </p:txBody>
      </p:sp>
      <p:sp>
        <p:nvSpPr>
          <p:cNvPr id="10" name="text-161">
            <a:extLst xmlns:a="http://schemas.openxmlformats.org/drawingml/2006/main">
              <a:ext uri="{FF2B5EF4-FFF2-40B4-BE49-F238E27FC236}">
                <a16:creationId xmlns:a16="http://schemas.microsoft.com/office/drawing/2014/main" id="{506A5C7D-EFB6-4343-960E-3906C6E0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000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Private notifications</a:t>
            </a:r>
          </a:p>
        </p:txBody>
      </p:sp>
      <p:sp>
        <p:nvSpPr>
          <p:cNvPr id="11" name="text-162">
            <a:extLst xmlns:a="http://schemas.openxmlformats.org/drawingml/2006/main">
              <a:ext uri="{FF2B5EF4-FFF2-40B4-BE49-F238E27FC236}">
                <a16:creationId xmlns:a16="http://schemas.microsoft.com/office/drawing/2014/main" id="{80B122E2-0EA3-4FF4-911C-0507D6A6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0006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Account changes clear old state and cancel stale requests.</a:t>
            </a:r>
          </a:p>
        </p:txBody>
      </p:sp>
      <p:sp>
        <p:nvSpPr>
          <p:cNvPr id="12" name="box-163">
            <a:extLst xmlns:a="http://schemas.openxmlformats.org/drawingml/2006/main">
              <a:ext uri="{FF2B5EF4-FFF2-40B4-BE49-F238E27FC236}">
                <a16:creationId xmlns:a16="http://schemas.microsoft.com/office/drawing/2014/main" id="{17D5D6EC-1A9D-422D-B083-811EACAA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95500"/>
            <a:ext cx="5286375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8D7"/>
            </a:solidFill>
            <a:prstDash val="dash"/>
          </a:ln>
        </p:spPr>
      </p:sp>
      <p:sp>
        <p:nvSpPr>
          <p:cNvPr id="13" name="text-164">
            <a:extLst xmlns:a="http://schemas.openxmlformats.org/drawingml/2006/main">
              <a:ext uri="{FF2B5EF4-FFF2-40B4-BE49-F238E27FC236}">
                <a16:creationId xmlns:a16="http://schemas.microsoft.com/office/drawing/2014/main" id="{8BAC9A8A-F6B5-4F04-BAC8-EE916BB3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24100"/>
            <a:ext cx="48291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Interface comparison</a:t>
            </a:r>
          </a:p>
        </p:txBody>
      </p:sp>
      <p:sp>
        <p:nvSpPr>
          <p:cNvPr id="14" name="text-165">
            <a:extLst xmlns:a="http://schemas.openxmlformats.org/drawingml/2006/main">
              <a:ext uri="{FF2B5EF4-FFF2-40B4-BE49-F238E27FC236}">
                <a16:creationId xmlns:a16="http://schemas.microsoft.com/office/drawing/2014/main" id="{D19585A9-5575-4532-9CBD-4C5D5E54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72050"/>
            <a:ext cx="48291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Add an actual light- or dark-theme screenshot</a:t>
            </a:r>
          </a:p>
        </p:txBody>
      </p:sp>
    </p:spTree>
    <p:extLst>
      <p:ext uri="{BB962C8B-B14F-4D97-AF65-F5344CB8AC3E}">
        <p14:creationId xmlns:p14="http://schemas.microsoft.com/office/powerpoint/2010/main" val="11619816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B4DC673-2741-4A3C-96A9-B07F2BBB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ARCHITECTURE</a:t>
            </a:r>
          </a:p>
        </p:txBody>
      </p:sp>
      <p:sp>
        <p:nvSpPr>
          <p:cNvPr id="2" name="text-166">
            <a:extLst xmlns:a="http://schemas.openxmlformats.org/drawingml/2006/main">
              <a:ext uri="{FF2B5EF4-FFF2-40B4-BE49-F238E27FC236}">
                <a16:creationId xmlns:a16="http://schemas.microsoft.com/office/drawing/2014/main" id="{1DD478F4-B3C5-409E-9F4B-B4491F70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A React frontend connects to a Django API</a:t>
            </a:r>
          </a:p>
        </p:txBody>
      </p:sp>
      <p:sp>
        <p:nvSpPr>
          <p:cNvPr id="3" name="box-167">
            <a:extLst xmlns:a="http://schemas.openxmlformats.org/drawingml/2006/main">
              <a:ext uri="{FF2B5EF4-FFF2-40B4-BE49-F238E27FC236}">
                <a16:creationId xmlns:a16="http://schemas.microsoft.com/office/drawing/2014/main" id="{55ED2B53-8C83-4B9F-8CF0-49342592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168">
            <a:extLst xmlns:a="http://schemas.openxmlformats.org/drawingml/2006/main">
              <a:ext uri="{FF2B5EF4-FFF2-40B4-BE49-F238E27FC236}">
                <a16:creationId xmlns:a16="http://schemas.microsoft.com/office/drawing/2014/main" id="{85A3F2BC-48DF-4BB7-9111-C29D9278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169">
            <a:extLst xmlns:a="http://schemas.openxmlformats.org/drawingml/2006/main">
              <a:ext uri="{FF2B5EF4-FFF2-40B4-BE49-F238E27FC236}">
                <a16:creationId xmlns:a16="http://schemas.microsoft.com/office/drawing/2014/main" id="{D4EF4382-2D42-4F45-909A-7BA444A3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6" name="box-170">
            <a:extLst xmlns:a="http://schemas.openxmlformats.org/drawingml/2006/main">
              <a:ext uri="{FF2B5EF4-FFF2-40B4-BE49-F238E27FC236}">
                <a16:creationId xmlns:a16="http://schemas.microsoft.com/office/drawing/2014/main" id="{23B2F5EA-789B-4F5B-B038-C3B35A56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5431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F"/>
          </a:solidFill>
        </p:spPr>
      </p:sp>
      <p:sp>
        <p:nvSpPr>
          <p:cNvPr id="7" name="text-171">
            <a:extLst xmlns:a="http://schemas.openxmlformats.org/drawingml/2006/main">
              <a:ext uri="{FF2B5EF4-FFF2-40B4-BE49-F238E27FC236}">
                <a16:creationId xmlns:a16="http://schemas.microsoft.com/office/drawing/2014/main" id="{37129134-8CD9-4B1F-9826-DB2DBEEA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1621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React UI</a:t>
            </a:r>
          </a:p>
        </p:txBody>
      </p:sp>
      <p:sp>
        <p:nvSpPr>
          <p:cNvPr id="8" name="text-172">
            <a:extLst xmlns:a="http://schemas.openxmlformats.org/drawingml/2006/main">
              <a:ext uri="{FF2B5EF4-FFF2-40B4-BE49-F238E27FC236}">
                <a16:creationId xmlns:a16="http://schemas.microsoft.com/office/drawing/2014/main" id="{1FCB1D51-1B35-4F31-90A1-8558AFE5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1621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TypeScript • Vite</a:t>
            </a:r>
          </a:p>
        </p:txBody>
      </p:sp>
      <p:sp>
        <p:nvSpPr>
          <p:cNvPr id="9" name="text-173">
            <a:extLst xmlns:a="http://schemas.openxmlformats.org/drawingml/2006/main">
              <a:ext uri="{FF2B5EF4-FFF2-40B4-BE49-F238E27FC236}">
                <a16:creationId xmlns:a16="http://schemas.microsoft.com/office/drawing/2014/main" id="{8371E9DB-9103-4BC4-99C9-8A3637CB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21621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Tailwind CSS</a:t>
            </a:r>
          </a:p>
        </p:txBody>
      </p:sp>
      <p:sp>
        <p:nvSpPr>
          <p:cNvPr id="10" name="box-174">
            <a:extLst xmlns:a="http://schemas.openxmlformats.org/drawingml/2006/main">
              <a:ext uri="{FF2B5EF4-FFF2-40B4-BE49-F238E27FC236}">
                <a16:creationId xmlns:a16="http://schemas.microsoft.com/office/drawing/2014/main" id="{3718E0BB-4FE2-4021-B212-11AA15B8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24100"/>
            <a:ext cx="25431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F"/>
          </a:solidFill>
        </p:spPr>
      </p:sp>
      <p:sp>
        <p:nvSpPr>
          <p:cNvPr id="11" name="text-175">
            <a:extLst xmlns:a="http://schemas.openxmlformats.org/drawingml/2006/main">
              <a:ext uri="{FF2B5EF4-FFF2-40B4-BE49-F238E27FC236}">
                <a16:creationId xmlns:a16="http://schemas.microsoft.com/office/drawing/2014/main" id="{0254E125-945E-4219-9F8D-C0682F1A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33650"/>
            <a:ext cx="21621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Cloudflare</a:t>
            </a:r>
          </a:p>
        </p:txBody>
      </p:sp>
      <p:sp>
        <p:nvSpPr>
          <p:cNvPr id="12" name="text-176">
            <a:extLst xmlns:a="http://schemas.openxmlformats.org/drawingml/2006/main">
              <a:ext uri="{FF2B5EF4-FFF2-40B4-BE49-F238E27FC236}">
                <a16:creationId xmlns:a16="http://schemas.microsoft.com/office/drawing/2014/main" id="{F70A91C5-2116-4CAD-9E6E-40B1EBA1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048000"/>
            <a:ext cx="21621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Static assets</a:t>
            </a:r>
          </a:p>
        </p:txBody>
      </p:sp>
      <p:sp>
        <p:nvSpPr>
          <p:cNvPr id="13" name="text-177">
            <a:extLst xmlns:a="http://schemas.openxmlformats.org/drawingml/2006/main">
              <a:ext uri="{FF2B5EF4-FFF2-40B4-BE49-F238E27FC236}">
                <a16:creationId xmlns:a16="http://schemas.microsoft.com/office/drawing/2014/main" id="{236CFB54-FBE8-4CE0-9775-327D3664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619500"/>
            <a:ext cx="21621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Same-origin proxy</a:t>
            </a:r>
          </a:p>
        </p:txBody>
      </p:sp>
      <p:cxnSp>
        <p:nvCxnSpPr>
          <p:cNvPr id="14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52775" y="33147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78"/>
            </a:solidFill>
            <a:headEnd type="none" w="med" len="med"/>
            <a:tailEnd type="none" w="med" len="med"/>
          </a:ln>
        </p:spPr>
      </p:cxnSp>
      <p:sp>
        <p:nvSpPr>
          <p:cNvPr id="15" name="box-178">
            <a:extLst xmlns:a="http://schemas.openxmlformats.org/drawingml/2006/main">
              <a:ext uri="{FF2B5EF4-FFF2-40B4-BE49-F238E27FC236}">
                <a16:creationId xmlns:a16="http://schemas.microsoft.com/office/drawing/2014/main" id="{A468D916-0AA9-41B4-ACEE-BF1B137A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25431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F"/>
          </a:solidFill>
        </p:spPr>
      </p:sp>
      <p:sp>
        <p:nvSpPr>
          <p:cNvPr id="16" name="text-179">
            <a:extLst xmlns:a="http://schemas.openxmlformats.org/drawingml/2006/main">
              <a:ext uri="{FF2B5EF4-FFF2-40B4-BE49-F238E27FC236}">
                <a16:creationId xmlns:a16="http://schemas.microsoft.com/office/drawing/2014/main" id="{97AB1C8E-8965-4A86-B7ED-13D567DC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33650"/>
            <a:ext cx="21621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Django API</a:t>
            </a:r>
          </a:p>
        </p:txBody>
      </p:sp>
      <p:sp>
        <p:nvSpPr>
          <p:cNvPr id="17" name="text-180">
            <a:extLst xmlns:a="http://schemas.openxmlformats.org/drawingml/2006/main">
              <a:ext uri="{FF2B5EF4-FFF2-40B4-BE49-F238E27FC236}">
                <a16:creationId xmlns:a16="http://schemas.microsoft.com/office/drawing/2014/main" id="{38121FB3-3102-404E-826E-EAE47970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48000"/>
            <a:ext cx="21621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REST Framework</a:t>
            </a:r>
          </a:p>
        </p:txBody>
      </p:sp>
      <p:sp>
        <p:nvSpPr>
          <p:cNvPr id="18" name="text-181">
            <a:extLst xmlns:a="http://schemas.openxmlformats.org/drawingml/2006/main">
              <a:ext uri="{FF2B5EF4-FFF2-40B4-BE49-F238E27FC236}">
                <a16:creationId xmlns:a16="http://schemas.microsoft.com/office/drawing/2014/main" id="{E485F6CB-140A-45A8-8F50-C8E955CC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9500"/>
            <a:ext cx="21621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Permissions + logic</a:t>
            </a:r>
          </a:p>
        </p:txBody>
      </p:sp>
      <p:cxnSp>
        <p:nvCxnSpPr>
          <p:cNvPr id="19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62650" y="33147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78"/>
            </a:solidFill>
            <a:headEnd type="none" w="med" len="med"/>
            <a:tailEnd type="none" w="med" len="med"/>
          </a:ln>
        </p:spPr>
      </p:cxnSp>
      <p:sp>
        <p:nvSpPr>
          <p:cNvPr id="20" name="box-182">
            <a:extLst xmlns:a="http://schemas.openxmlformats.org/drawingml/2006/main">
              <a:ext uri="{FF2B5EF4-FFF2-40B4-BE49-F238E27FC236}">
                <a16:creationId xmlns:a16="http://schemas.microsoft.com/office/drawing/2014/main" id="{28569163-E94F-40AB-98BC-46EAE9D1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324100"/>
            <a:ext cx="25431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F"/>
          </a:solidFill>
        </p:spPr>
      </p:sp>
      <p:sp>
        <p:nvSpPr>
          <p:cNvPr id="21" name="text-183">
            <a:extLst xmlns:a="http://schemas.openxmlformats.org/drawingml/2006/main">
              <a:ext uri="{FF2B5EF4-FFF2-40B4-BE49-F238E27FC236}">
                <a16:creationId xmlns:a16="http://schemas.microsoft.com/office/drawing/2014/main" id="{C22CE895-1E6C-42C0-A9C3-5B88DE93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33650"/>
            <a:ext cx="21621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Data services</a:t>
            </a:r>
          </a:p>
        </p:txBody>
      </p:sp>
      <p:sp>
        <p:nvSpPr>
          <p:cNvPr id="22" name="text-184">
            <a:extLst xmlns:a="http://schemas.openxmlformats.org/drawingml/2006/main">
              <a:ext uri="{FF2B5EF4-FFF2-40B4-BE49-F238E27FC236}">
                <a16:creationId xmlns:a16="http://schemas.microsoft.com/office/drawing/2014/main" id="{3FDFA0C4-610F-434F-B5EA-A02BBF80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48000"/>
            <a:ext cx="21621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Relational records</a:t>
            </a:r>
          </a:p>
        </p:txBody>
      </p:sp>
      <p:sp>
        <p:nvSpPr>
          <p:cNvPr id="23" name="text-185">
            <a:extLst xmlns:a="http://schemas.openxmlformats.org/drawingml/2006/main">
              <a:ext uri="{FF2B5EF4-FFF2-40B4-BE49-F238E27FC236}">
                <a16:creationId xmlns:a16="http://schemas.microsoft.com/office/drawing/2014/main" id="{5BF42F3F-E839-4AE3-ABDD-4F2F49F5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619500"/>
            <a:ext cx="21621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Private uploads</a:t>
            </a:r>
          </a:p>
        </p:txBody>
      </p:sp>
      <p:cxnSp>
        <p:nvCxnSpPr>
          <p:cNvPr id="24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72525" y="33147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78"/>
            </a:solidFill>
            <a:headEnd type="none" w="med" len="med"/>
            <a:tailEnd type="none" w="med" len="med"/>
          </a:ln>
        </p:spPr>
      </p:cxnSp>
      <p:sp>
        <p:nvSpPr>
          <p:cNvPr id="25" name="box-186">
            <a:extLst xmlns:a="http://schemas.openxmlformats.org/drawingml/2006/main">
              <a:ext uri="{FF2B5EF4-FFF2-40B4-BE49-F238E27FC236}">
                <a16:creationId xmlns:a16="http://schemas.microsoft.com/office/drawing/2014/main" id="{E048C612-7B7E-4F25-8202-C6AF7787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26" name="text-187">
            <a:extLst xmlns:a="http://schemas.openxmlformats.org/drawingml/2006/main">
              <a:ext uri="{FF2B5EF4-FFF2-40B4-BE49-F238E27FC236}">
                <a16:creationId xmlns:a16="http://schemas.microsoft.com/office/drawing/2014/main" id="{8ABBBF19-CA43-479D-964A-091E1808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Local</a:t>
            </a:r>
          </a:p>
        </p:txBody>
      </p:sp>
      <p:sp>
        <p:nvSpPr>
          <p:cNvPr id="27" name="text-188">
            <a:extLst xmlns:a="http://schemas.openxmlformats.org/drawingml/2006/main">
              <a:ext uri="{FF2B5EF4-FFF2-40B4-BE49-F238E27FC236}">
                <a16:creationId xmlns:a16="http://schemas.microsoft.com/office/drawing/2014/main" id="{6EDF0A5D-7232-493F-9516-929EE408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14925"/>
            <a:ext cx="361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SQLite database</a:t>
            </a:r>
          </a:p>
        </p:txBody>
      </p:sp>
      <p:sp>
        <p:nvSpPr>
          <p:cNvPr id="28" name="text-189">
            <a:extLst xmlns:a="http://schemas.openxmlformats.org/drawingml/2006/main">
              <a:ext uri="{FF2B5EF4-FFF2-40B4-BE49-F238E27FC236}">
                <a16:creationId xmlns:a16="http://schemas.microsoft.com/office/drawing/2014/main" id="{9454840E-B6B8-4943-BDDC-8D59A149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72075"/>
            <a:ext cx="2209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Production options</a:t>
            </a:r>
          </a:p>
        </p:txBody>
      </p:sp>
      <p:sp>
        <p:nvSpPr>
          <p:cNvPr id="29" name="text-190">
            <a:extLst xmlns:a="http://schemas.openxmlformats.org/drawingml/2006/main">
              <a:ext uri="{FF2B5EF4-FFF2-40B4-BE49-F238E27FC236}">
                <a16:creationId xmlns:a16="http://schemas.microsoft.com/office/drawing/2014/main" id="{83CA7811-4DBB-4957-9CA7-E26009B2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48250"/>
            <a:ext cx="3028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PostgreSQL + private storage</a:t>
            </a:r>
          </a:p>
        </p:txBody>
      </p:sp>
    </p:spTree>
    <p:extLst>
      <p:ext uri="{BB962C8B-B14F-4D97-AF65-F5344CB8AC3E}">
        <p14:creationId xmlns:p14="http://schemas.microsoft.com/office/powerpoint/2010/main" val="7914846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2C4855-CCD8-4700-ACB6-E0572A10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DATABASE</a:t>
            </a:r>
          </a:p>
        </p:txBody>
      </p:sp>
      <p:sp>
        <p:nvSpPr>
          <p:cNvPr id="2" name="text-191">
            <a:extLst xmlns:a="http://schemas.openxmlformats.org/drawingml/2006/main">
              <a:ext uri="{FF2B5EF4-FFF2-40B4-BE49-F238E27FC236}">
                <a16:creationId xmlns:a16="http://schemas.microsoft.com/office/drawing/2014/main" id="{D0788D39-F8B8-41BC-9AA5-29DEEE80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Related records keep recruitment data consistent</a:t>
            </a:r>
          </a:p>
        </p:txBody>
      </p:sp>
      <p:sp>
        <p:nvSpPr>
          <p:cNvPr id="3" name="box-192">
            <a:extLst xmlns:a="http://schemas.openxmlformats.org/drawingml/2006/main">
              <a:ext uri="{FF2B5EF4-FFF2-40B4-BE49-F238E27FC236}">
                <a16:creationId xmlns:a16="http://schemas.microsoft.com/office/drawing/2014/main" id="{CD3211BF-02ED-472A-B587-9BAEA5B5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193">
            <a:extLst xmlns:a="http://schemas.openxmlformats.org/drawingml/2006/main">
              <a:ext uri="{FF2B5EF4-FFF2-40B4-BE49-F238E27FC236}">
                <a16:creationId xmlns:a16="http://schemas.microsoft.com/office/drawing/2014/main" id="{4C2E67E6-5BFA-44B4-A5D2-2EA2B1BC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194">
            <a:extLst xmlns:a="http://schemas.openxmlformats.org/drawingml/2006/main">
              <a:ext uri="{FF2B5EF4-FFF2-40B4-BE49-F238E27FC236}">
                <a16:creationId xmlns:a16="http://schemas.microsoft.com/office/drawing/2014/main" id="{6F6D9B94-3676-4EC7-8216-2909A906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6" name="text-195">
            <a:extLst xmlns:a="http://schemas.openxmlformats.org/drawingml/2006/main">
              <a:ext uri="{FF2B5EF4-FFF2-40B4-BE49-F238E27FC236}">
                <a16:creationId xmlns:a16="http://schemas.microsoft.com/office/drawing/2014/main" id="{90E1DA97-0043-47D3-9C1F-3ED54007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7910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Identity and profiles</a:t>
            </a:r>
          </a:p>
        </p:txBody>
      </p:sp>
      <p:sp>
        <p:nvSpPr>
          <p:cNvPr id="7" name="text-196">
            <a:extLst xmlns:a="http://schemas.openxmlformats.org/drawingml/2006/main">
              <a:ext uri="{FF2B5EF4-FFF2-40B4-BE49-F238E27FC236}">
                <a16:creationId xmlns:a16="http://schemas.microsoft.com/office/drawing/2014/main" id="{70513037-3521-4C8C-B7BA-F66E02CB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9107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User, StudentProfile, RecruiterProfile and verification code.</a:t>
            </a:r>
          </a:p>
        </p:txBody>
      </p:sp>
      <p:sp>
        <p:nvSpPr>
          <p:cNvPr id="8" name="text-197">
            <a:extLst xmlns:a="http://schemas.openxmlformats.org/drawingml/2006/main">
              <a:ext uri="{FF2B5EF4-FFF2-40B4-BE49-F238E27FC236}">
                <a16:creationId xmlns:a16="http://schemas.microsoft.com/office/drawing/2014/main" id="{368E73C0-8C78-4548-B4BD-A6CBF9E8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7910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Recruitment records</a:t>
            </a:r>
          </a:p>
        </p:txBody>
      </p:sp>
      <p:sp>
        <p:nvSpPr>
          <p:cNvPr id="9" name="text-198">
            <a:extLst xmlns:a="http://schemas.openxmlformats.org/drawingml/2006/main">
              <a:ext uri="{FF2B5EF4-FFF2-40B4-BE49-F238E27FC236}">
                <a16:creationId xmlns:a16="http://schemas.microsoft.com/office/drawing/2014/main" id="{64ED0880-163B-479F-A02C-D1DFE84D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79107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Company, Skill, Job, Application and Notification.</a:t>
            </a:r>
          </a:p>
        </p:txBody>
      </p:sp>
      <p:sp>
        <p:nvSpPr>
          <p:cNvPr id="10" name="text-199">
            <a:extLst xmlns:a="http://schemas.openxmlformats.org/drawingml/2006/main">
              <a:ext uri="{FF2B5EF4-FFF2-40B4-BE49-F238E27FC236}">
                <a16:creationId xmlns:a16="http://schemas.microsoft.com/office/drawing/2014/main" id="{A571F5AA-D56A-4A69-8464-12C89D71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7910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Integrity rules</a:t>
            </a:r>
          </a:p>
        </p:txBody>
      </p:sp>
      <p:sp>
        <p:nvSpPr>
          <p:cNvPr id="11" name="text-200">
            <a:extLst xmlns:a="http://schemas.openxmlformats.org/drawingml/2006/main">
              <a:ext uri="{FF2B5EF4-FFF2-40B4-BE49-F238E27FC236}">
                <a16:creationId xmlns:a16="http://schemas.microsoft.com/office/drawing/2014/main" id="{DAB96006-984C-445C-BED2-221E3A67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79107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Unique student–job pair; one company per recruiter.</a:t>
            </a:r>
          </a:p>
        </p:txBody>
      </p:sp>
      <p:sp>
        <p:nvSpPr>
          <p:cNvPr id="12" name="box-201">
            <a:extLst xmlns:a="http://schemas.openxmlformats.org/drawingml/2006/main">
              <a:ext uri="{FF2B5EF4-FFF2-40B4-BE49-F238E27FC236}">
                <a16:creationId xmlns:a16="http://schemas.microsoft.com/office/drawing/2014/main" id="{A122065B-26DC-4168-86CC-B225ED1E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55626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8D7"/>
            </a:solidFill>
            <a:prstDash val="dash"/>
          </a:ln>
        </p:spPr>
      </p:sp>
      <p:sp>
        <p:nvSpPr>
          <p:cNvPr id="13" name="text-202">
            <a:extLst xmlns:a="http://schemas.openxmlformats.org/drawingml/2006/main">
              <a:ext uri="{FF2B5EF4-FFF2-40B4-BE49-F238E27FC236}">
                <a16:creationId xmlns:a16="http://schemas.microsoft.com/office/drawing/2014/main" id="{9AE0CAFD-63B1-4482-89E8-DF664BF5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5105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Entity–relationship diagram</a:t>
            </a:r>
          </a:p>
        </p:txBody>
      </p:sp>
      <p:sp>
        <p:nvSpPr>
          <p:cNvPr id="14" name="text-203">
            <a:extLst xmlns:a="http://schemas.openxmlformats.org/drawingml/2006/main">
              <a:ext uri="{FF2B5EF4-FFF2-40B4-BE49-F238E27FC236}">
                <a16:creationId xmlns:a16="http://schemas.microsoft.com/office/drawing/2014/main" id="{2D7AC160-83F1-46EE-8F9E-59CA4F1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29200"/>
            <a:ext cx="5105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Insert the final ERD here</a:t>
            </a:r>
          </a:p>
        </p:txBody>
      </p:sp>
    </p:spTree>
    <p:extLst>
      <p:ext uri="{BB962C8B-B14F-4D97-AF65-F5344CB8AC3E}">
        <p14:creationId xmlns:p14="http://schemas.microsoft.com/office/powerpoint/2010/main" val="15360064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9B26493-AE96-4AEF-BE8E-5895FE4D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APPLICATION LIFECYCLE</a:t>
            </a:r>
          </a:p>
        </p:txBody>
      </p:sp>
      <p:sp>
        <p:nvSpPr>
          <p:cNvPr id="2" name="text-204">
            <a:extLst xmlns:a="http://schemas.openxmlformats.org/drawingml/2006/main">
              <a:ext uri="{FF2B5EF4-FFF2-40B4-BE49-F238E27FC236}">
                <a16:creationId xmlns:a16="http://schemas.microsoft.com/office/drawing/2014/main" id="{65C7F1CD-AF16-4928-92BC-CFA2DAD3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Students and recruiters share an application record</a:t>
            </a:r>
          </a:p>
        </p:txBody>
      </p:sp>
      <p:sp>
        <p:nvSpPr>
          <p:cNvPr id="3" name="box-205">
            <a:extLst xmlns:a="http://schemas.openxmlformats.org/drawingml/2006/main">
              <a:ext uri="{FF2B5EF4-FFF2-40B4-BE49-F238E27FC236}">
                <a16:creationId xmlns:a16="http://schemas.microsoft.com/office/drawing/2014/main" id="{350CA13B-8C1D-4D46-9F64-40938127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206">
            <a:extLst xmlns:a="http://schemas.openxmlformats.org/drawingml/2006/main">
              <a:ext uri="{FF2B5EF4-FFF2-40B4-BE49-F238E27FC236}">
                <a16:creationId xmlns:a16="http://schemas.microsoft.com/office/drawing/2014/main" id="{3ED014CE-C930-46E2-BFA7-A438FF2A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207">
            <a:extLst xmlns:a="http://schemas.openxmlformats.org/drawingml/2006/main">
              <a:ext uri="{FF2B5EF4-FFF2-40B4-BE49-F238E27FC236}">
                <a16:creationId xmlns:a16="http://schemas.microsoft.com/office/drawing/2014/main" id="{04E7CCA3-C3A1-4CD1-90C9-E0D43503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6" name="text-208">
            <a:extLst xmlns:a="http://schemas.openxmlformats.org/drawingml/2006/main">
              <a:ext uri="{FF2B5EF4-FFF2-40B4-BE49-F238E27FC236}">
                <a16:creationId xmlns:a16="http://schemas.microsoft.com/office/drawing/2014/main" id="{F790DDEA-C043-47F3-A2DC-49E696FB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572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APPLICATION STATES</a:t>
            </a:r>
          </a:p>
        </p:txBody>
      </p:sp>
      <p:sp>
        <p:nvSpPr>
          <p:cNvPr id="7" name="box-209">
            <a:extLst xmlns:a="http://schemas.openxmlformats.org/drawingml/2006/main">
              <a:ext uri="{FF2B5EF4-FFF2-40B4-BE49-F238E27FC236}">
                <a16:creationId xmlns:a16="http://schemas.microsoft.com/office/drawing/2014/main" id="{488F27EB-3FF7-4661-8A1E-F1F177E6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067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8" name="text-210">
            <a:extLst xmlns:a="http://schemas.openxmlformats.org/drawingml/2006/main">
              <a:ext uri="{FF2B5EF4-FFF2-40B4-BE49-F238E27FC236}">
                <a16:creationId xmlns:a16="http://schemas.microsoft.com/office/drawing/2014/main" id="{B5D76889-65E0-47DD-B87D-72647370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4057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Submitted</a:t>
            </a:r>
          </a:p>
        </p:txBody>
      </p:sp>
      <p:sp>
        <p:nvSpPr>
          <p:cNvPr id="9" name="box-211">
            <a:extLst xmlns:a="http://schemas.openxmlformats.org/drawingml/2006/main">
              <a:ext uri="{FF2B5EF4-FFF2-40B4-BE49-F238E27FC236}">
                <a16:creationId xmlns:a16="http://schemas.microsoft.com/office/drawing/2014/main" id="{5562B32B-A609-41B1-BDB4-2EC364CC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4067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0" name="text-212">
            <a:extLst xmlns:a="http://schemas.openxmlformats.org/drawingml/2006/main">
              <a:ext uri="{FF2B5EF4-FFF2-40B4-BE49-F238E27FC236}">
                <a16:creationId xmlns:a16="http://schemas.microsoft.com/office/drawing/2014/main" id="{078D6B87-4A07-488A-B5E4-A42F86FE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4057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Under Review</a:t>
            </a:r>
          </a:p>
        </p:txBody>
      </p:sp>
      <p:sp>
        <p:nvSpPr>
          <p:cNvPr id="11" name="box-213">
            <a:extLst xmlns:a="http://schemas.openxmlformats.org/drawingml/2006/main">
              <a:ext uri="{FF2B5EF4-FFF2-40B4-BE49-F238E27FC236}">
                <a16:creationId xmlns:a16="http://schemas.microsoft.com/office/drawing/2014/main" id="{FF7E2C67-519F-4C08-8CC6-AA6C88F6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067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2" name="text-214">
            <a:extLst xmlns:a="http://schemas.openxmlformats.org/drawingml/2006/main">
              <a:ext uri="{FF2B5EF4-FFF2-40B4-BE49-F238E27FC236}">
                <a16:creationId xmlns:a16="http://schemas.microsoft.com/office/drawing/2014/main" id="{FAD87DC2-ACDA-4408-8F84-DB7D8662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057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Accepted</a:t>
            </a:r>
          </a:p>
        </p:txBody>
      </p:sp>
      <p:sp>
        <p:nvSpPr>
          <p:cNvPr id="13" name="box-215">
            <a:extLst xmlns:a="http://schemas.openxmlformats.org/drawingml/2006/main">
              <a:ext uri="{FF2B5EF4-FFF2-40B4-BE49-F238E27FC236}">
                <a16:creationId xmlns:a16="http://schemas.microsoft.com/office/drawing/2014/main" id="{DBB40806-C77A-4D6E-BCE4-3B5D7666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4067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4" name="text-216">
            <a:extLst xmlns:a="http://schemas.openxmlformats.org/drawingml/2006/main">
              <a:ext uri="{FF2B5EF4-FFF2-40B4-BE49-F238E27FC236}">
                <a16:creationId xmlns:a16="http://schemas.microsoft.com/office/drawing/2014/main" id="{5C6C1FF3-4DDB-4220-A540-0592B955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4057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Rejected</a:t>
            </a:r>
          </a:p>
        </p:txBody>
      </p:sp>
      <p:sp>
        <p:nvSpPr>
          <p:cNvPr id="15" name="box-217">
            <a:extLst xmlns:a="http://schemas.openxmlformats.org/drawingml/2006/main">
              <a:ext uri="{FF2B5EF4-FFF2-40B4-BE49-F238E27FC236}">
                <a16:creationId xmlns:a16="http://schemas.microsoft.com/office/drawing/2014/main" id="{8D0643B6-A680-4F74-99FE-5F4AD31B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4067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6" name="text-218">
            <a:extLst xmlns:a="http://schemas.openxmlformats.org/drawingml/2006/main">
              <a:ext uri="{FF2B5EF4-FFF2-40B4-BE49-F238E27FC236}">
                <a16:creationId xmlns:a16="http://schemas.microsoft.com/office/drawing/2014/main" id="{860AB0DB-FBC6-4FB6-A02B-AED8C372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4057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Withdrawn</a:t>
            </a:r>
          </a:p>
        </p:txBody>
      </p:sp>
      <p:sp>
        <p:nvSpPr>
          <p:cNvPr id="17" name="box-219">
            <a:extLst xmlns:a="http://schemas.openxmlformats.org/drawingml/2006/main">
              <a:ext uri="{FF2B5EF4-FFF2-40B4-BE49-F238E27FC236}">
                <a16:creationId xmlns:a16="http://schemas.microsoft.com/office/drawing/2014/main" id="{E32339CA-CD1E-48DF-B5D7-C9E42572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095500"/>
            <a:ext cx="623887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8D7"/>
            </a:solidFill>
            <a:prstDash val="dash"/>
          </a:ln>
        </p:spPr>
      </p:sp>
      <p:sp>
        <p:nvSpPr>
          <p:cNvPr id="18" name="text-220">
            <a:extLst xmlns:a="http://schemas.openxmlformats.org/drawingml/2006/main">
              <a:ext uri="{FF2B5EF4-FFF2-40B4-BE49-F238E27FC236}">
                <a16:creationId xmlns:a16="http://schemas.microsoft.com/office/drawing/2014/main" id="{A5B22E1B-6E78-44C0-8736-C51C8BCA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24100"/>
            <a:ext cx="57816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Recruitment flowchart</a:t>
            </a:r>
          </a:p>
        </p:txBody>
      </p:sp>
      <p:sp>
        <p:nvSpPr>
          <p:cNvPr id="19" name="text-221">
            <a:extLst xmlns:a="http://schemas.openxmlformats.org/drawingml/2006/main">
              <a:ext uri="{FF2B5EF4-FFF2-40B4-BE49-F238E27FC236}">
                <a16:creationId xmlns:a16="http://schemas.microsoft.com/office/drawing/2014/main" id="{61EA9730-F09E-4A4F-8ACA-A8C70BF4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10100"/>
            <a:ext cx="57816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Insert your final student–recruiter flowchart</a:t>
            </a:r>
          </a:p>
        </p:txBody>
      </p:sp>
      <p:sp>
        <p:nvSpPr>
          <p:cNvPr id="20" name="text-222">
            <a:extLst xmlns:a="http://schemas.openxmlformats.org/drawingml/2006/main">
              <a:ext uri="{FF2B5EF4-FFF2-40B4-BE49-F238E27FC236}">
                <a16:creationId xmlns:a16="http://schemas.microsoft.com/office/drawing/2014/main" id="{EA73D42E-81BA-403B-B93C-0B66C3A8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467350"/>
            <a:ext cx="62293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Students may withdraw while Submitted or Under Review.</a:t>
            </a:r>
          </a:p>
        </p:txBody>
      </p:sp>
    </p:spTree>
    <p:extLst>
      <p:ext uri="{BB962C8B-B14F-4D97-AF65-F5344CB8AC3E}">
        <p14:creationId xmlns:p14="http://schemas.microsoft.com/office/powerpoint/2010/main" val="16043208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56D55D3-A36D-4285-84E0-055449F0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CFC2"/>
                </a:solidFill>
                <a:latin typeface="Arial"/>
                <a:ea typeface="Arial"/>
                <a:cs typeface="Arial"/>
              </a:defRPr>
            </a:pPr>
            <a:r>
              <a:t>VERIFICATION RESULTS</a:t>
            </a:r>
          </a:p>
        </p:txBody>
      </p:sp>
      <p:sp>
        <p:nvSpPr>
          <p:cNvPr id="2" name="text-223">
            <a:extLst xmlns:a="http://schemas.openxmlformats.org/drawingml/2006/main">
              <a:ext uri="{FF2B5EF4-FFF2-40B4-BE49-F238E27FC236}">
                <a16:creationId xmlns:a16="http://schemas.microsoft.com/office/drawing/2014/main" id="{BD1A980D-1D33-4DC2-A96C-A5AA137B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93 automated tests passed for the updated project</a:t>
            </a:r>
          </a:p>
        </p:txBody>
      </p:sp>
      <p:sp>
        <p:nvSpPr>
          <p:cNvPr id="3" name="box-224">
            <a:extLst xmlns:a="http://schemas.openxmlformats.org/drawingml/2006/main">
              <a:ext uri="{FF2B5EF4-FFF2-40B4-BE49-F238E27FC236}">
                <a16:creationId xmlns:a16="http://schemas.microsoft.com/office/drawing/2014/main" id="{A2549101-6BF8-496F-8B2F-3204410D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A"/>
          </a:solidFill>
        </p:spPr>
      </p:sp>
      <p:sp>
        <p:nvSpPr>
          <p:cNvPr id="4" name="text-225">
            <a:extLst xmlns:a="http://schemas.openxmlformats.org/drawingml/2006/main">
              <a:ext uri="{FF2B5EF4-FFF2-40B4-BE49-F238E27FC236}">
                <a16:creationId xmlns:a16="http://schemas.microsoft.com/office/drawing/2014/main" id="{1AE89C4E-DC66-4AE6-90B2-7AE70646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EBF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226">
            <a:extLst xmlns:a="http://schemas.openxmlformats.org/drawingml/2006/main">
              <a:ext uri="{FF2B5EF4-FFF2-40B4-BE49-F238E27FC236}">
                <a16:creationId xmlns:a16="http://schemas.microsoft.com/office/drawing/2014/main" id="{F8BC0A3B-FA89-4AD8-8484-1CB73237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FBEBF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6" name="text-227">
            <a:extLst xmlns:a="http://schemas.openxmlformats.org/drawingml/2006/main">
              <a:ext uri="{FF2B5EF4-FFF2-40B4-BE49-F238E27FC236}">
                <a16:creationId xmlns:a16="http://schemas.microsoft.com/office/drawing/2014/main" id="{D96AEED7-DA4F-4333-8538-D58C76B0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4476750" cy="1971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150" b="1">
                <a:solidFill>
                  <a:srgbClr val="78CFC2"/>
                </a:solidFill>
                <a:latin typeface="Arial"/>
                <a:ea typeface="Arial"/>
                <a:cs typeface="Arial"/>
              </a:defRPr>
            </a:pPr>
            <a:r>
              <a:t>93</a:t>
            </a:r>
          </a:p>
        </p:txBody>
      </p:sp>
      <p:sp>
        <p:nvSpPr>
          <p:cNvPr id="7" name="text-228">
            <a:extLst xmlns:a="http://schemas.openxmlformats.org/drawingml/2006/main">
              <a:ext uri="{FF2B5EF4-FFF2-40B4-BE49-F238E27FC236}">
                <a16:creationId xmlns:a16="http://schemas.microsoft.com/office/drawing/2014/main" id="{EAA57600-DD7D-4856-992F-394DAC0D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4667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passing automated tests</a:t>
            </a:r>
          </a:p>
        </p:txBody>
      </p:sp>
      <p:sp>
        <p:nvSpPr>
          <p:cNvPr id="8" name="text-229">
            <a:extLst xmlns:a="http://schemas.openxmlformats.org/drawingml/2006/main">
              <a:ext uri="{FF2B5EF4-FFF2-40B4-BE49-F238E27FC236}">
                <a16:creationId xmlns:a16="http://schemas.microsoft.com/office/drawing/2014/main" id="{1DE6A770-5154-4D71-A1B6-712F0B1E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CD4D2"/>
                </a:solidFill>
                <a:latin typeface="Arial"/>
                <a:ea typeface="Arial"/>
                <a:cs typeface="Arial"/>
              </a:defRPr>
            </a:pPr>
            <a:r>
              <a:t>Verified on 20 September 2026</a:t>
            </a:r>
          </a:p>
        </p:txBody>
      </p:sp>
      <p:sp>
        <p:nvSpPr>
          <p:cNvPr id="9" name="text-230">
            <a:extLst xmlns:a="http://schemas.openxmlformats.org/drawingml/2006/main">
              <a:ext uri="{FF2B5EF4-FFF2-40B4-BE49-F238E27FC236}">
                <a16:creationId xmlns:a16="http://schemas.microsoft.com/office/drawing/2014/main" id="{3D4A9E39-C20C-4A7C-8879-409A0BD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57425"/>
            <a:ext cx="12382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79</a:t>
            </a:r>
          </a:p>
        </p:txBody>
      </p:sp>
      <p:sp>
        <p:nvSpPr>
          <p:cNvPr id="10" name="text-231">
            <a:extLst xmlns:a="http://schemas.openxmlformats.org/drawingml/2006/main">
              <a:ext uri="{FF2B5EF4-FFF2-40B4-BE49-F238E27FC236}">
                <a16:creationId xmlns:a16="http://schemas.microsoft.com/office/drawing/2014/main" id="{0D83D518-4DE2-4BB8-BB20-FD2C6F27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33625"/>
            <a:ext cx="33337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Backend tests</a:t>
            </a:r>
          </a:p>
        </p:txBody>
      </p:sp>
      <p:sp>
        <p:nvSpPr>
          <p:cNvPr id="11" name="box-232">
            <a:extLst xmlns:a="http://schemas.openxmlformats.org/drawingml/2006/main">
              <a:ext uri="{FF2B5EF4-FFF2-40B4-BE49-F238E27FC236}">
                <a16:creationId xmlns:a16="http://schemas.microsoft.com/office/drawing/2014/main" id="{F42BBEE4-8DE3-42EC-9090-4A2791B9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57525"/>
            <a:ext cx="5172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A"/>
          </a:solidFill>
        </p:spPr>
      </p:sp>
      <p:sp>
        <p:nvSpPr>
          <p:cNvPr id="12" name="text-233">
            <a:extLst xmlns:a="http://schemas.openxmlformats.org/drawingml/2006/main">
              <a:ext uri="{FF2B5EF4-FFF2-40B4-BE49-F238E27FC236}">
                <a16:creationId xmlns:a16="http://schemas.microsoft.com/office/drawing/2014/main" id="{3BF132ED-B706-465B-8900-3902DD97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05175"/>
            <a:ext cx="12382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sp>
        <p:nvSpPr>
          <p:cNvPr id="13" name="text-234">
            <a:extLst xmlns:a="http://schemas.openxmlformats.org/drawingml/2006/main">
              <a:ext uri="{FF2B5EF4-FFF2-40B4-BE49-F238E27FC236}">
                <a16:creationId xmlns:a16="http://schemas.microsoft.com/office/drawing/2014/main" id="{71DE524C-1B24-44C1-9016-B1EB5644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381375"/>
            <a:ext cx="33337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Frontend logic tests</a:t>
            </a:r>
          </a:p>
        </p:txBody>
      </p:sp>
      <p:sp>
        <p:nvSpPr>
          <p:cNvPr id="14" name="box-235">
            <a:extLst xmlns:a="http://schemas.openxmlformats.org/drawingml/2006/main">
              <a:ext uri="{FF2B5EF4-FFF2-40B4-BE49-F238E27FC236}">
                <a16:creationId xmlns:a16="http://schemas.microsoft.com/office/drawing/2014/main" id="{769D3D49-397A-43FB-A2E3-D6078758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05275"/>
            <a:ext cx="5172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A"/>
          </a:solidFill>
        </p:spPr>
      </p:sp>
      <p:sp>
        <p:nvSpPr>
          <p:cNvPr id="15" name="text-236">
            <a:extLst xmlns:a="http://schemas.openxmlformats.org/drawingml/2006/main">
              <a:ext uri="{FF2B5EF4-FFF2-40B4-BE49-F238E27FC236}">
                <a16:creationId xmlns:a16="http://schemas.microsoft.com/office/drawing/2014/main" id="{D2772929-C735-4ED1-99C6-3D262F49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52925"/>
            <a:ext cx="12382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16" name="text-237">
            <a:extLst xmlns:a="http://schemas.openxmlformats.org/drawingml/2006/main">
              <a:ext uri="{FF2B5EF4-FFF2-40B4-BE49-F238E27FC236}">
                <a16:creationId xmlns:a16="http://schemas.microsoft.com/office/drawing/2014/main" id="{066A799B-107E-40DE-8B74-2CA6DFC7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429125"/>
            <a:ext cx="3333750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Cloudflare Worker tests</a:t>
            </a:r>
          </a:p>
        </p:txBody>
      </p:sp>
      <p:sp>
        <p:nvSpPr>
          <p:cNvPr id="17" name="box-238">
            <a:extLst xmlns:a="http://schemas.openxmlformats.org/drawingml/2006/main">
              <a:ext uri="{FF2B5EF4-FFF2-40B4-BE49-F238E27FC236}">
                <a16:creationId xmlns:a16="http://schemas.microsoft.com/office/drawing/2014/main" id="{EDBE63AB-E718-4400-A7DC-ABC3851A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153025"/>
            <a:ext cx="5172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A"/>
          </a:solidFill>
        </p:spPr>
      </p:sp>
      <p:sp>
        <p:nvSpPr>
          <p:cNvPr id="18" name="text-239">
            <a:extLst xmlns:a="http://schemas.openxmlformats.org/drawingml/2006/main">
              <a:ext uri="{FF2B5EF4-FFF2-40B4-BE49-F238E27FC236}">
                <a16:creationId xmlns:a16="http://schemas.microsoft.com/office/drawing/2014/main" id="{809DA97F-A357-4112-984A-2E108CE1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Also passed: TypeScript checks • Vite build • Django system check</a:t>
            </a:r>
          </a:p>
        </p:txBody>
      </p:sp>
    </p:spTree>
    <p:extLst>
      <p:ext uri="{BB962C8B-B14F-4D97-AF65-F5344CB8AC3E}">
        <p14:creationId xmlns:p14="http://schemas.microsoft.com/office/powerpoint/2010/main" val="14591220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77C965-09F7-48CC-8047-8207DCA4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DEPLOYMENT</a:t>
            </a:r>
          </a:p>
        </p:txBody>
      </p:sp>
      <p:sp>
        <p:nvSpPr>
          <p:cNvPr id="2" name="text-240">
            <a:extLst xmlns:a="http://schemas.openxmlformats.org/drawingml/2006/main">
              <a:ext uri="{FF2B5EF4-FFF2-40B4-BE49-F238E27FC236}">
                <a16:creationId xmlns:a16="http://schemas.microsoft.com/office/drawing/2014/main" id="{D19238C1-1CB9-425E-A04E-5C1A102B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Cloudflare proxies the Render-hosted backend</a:t>
            </a:r>
          </a:p>
        </p:txBody>
      </p:sp>
      <p:sp>
        <p:nvSpPr>
          <p:cNvPr id="3" name="box-241">
            <a:extLst xmlns:a="http://schemas.openxmlformats.org/drawingml/2006/main">
              <a:ext uri="{FF2B5EF4-FFF2-40B4-BE49-F238E27FC236}">
                <a16:creationId xmlns:a16="http://schemas.microsoft.com/office/drawing/2014/main" id="{768DF6E0-6AB2-448B-832F-9DD50CC4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242">
            <a:extLst xmlns:a="http://schemas.openxmlformats.org/drawingml/2006/main">
              <a:ext uri="{FF2B5EF4-FFF2-40B4-BE49-F238E27FC236}">
                <a16:creationId xmlns:a16="http://schemas.microsoft.com/office/drawing/2014/main" id="{9387F9F3-D907-494A-9028-17659B60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243">
            <a:extLst xmlns:a="http://schemas.openxmlformats.org/drawingml/2006/main">
              <a:ext uri="{FF2B5EF4-FFF2-40B4-BE49-F238E27FC236}">
                <a16:creationId xmlns:a16="http://schemas.microsoft.com/office/drawing/2014/main" id="{7C181719-157D-4D3E-B204-616F4116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6" name="text-244">
            <a:extLst xmlns:a="http://schemas.openxmlformats.org/drawingml/2006/main">
              <a:ext uri="{FF2B5EF4-FFF2-40B4-BE49-F238E27FC236}">
                <a16:creationId xmlns:a16="http://schemas.microsoft.com/office/drawing/2014/main" id="{495DC89A-ECBF-48F4-91FB-D9CB8E73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Configured hosting</a:t>
            </a:r>
          </a:p>
        </p:txBody>
      </p:sp>
      <p:sp>
        <p:nvSpPr>
          <p:cNvPr id="7" name="text-245">
            <a:extLst xmlns:a="http://schemas.openxmlformats.org/drawingml/2006/main">
              <a:ext uri="{FF2B5EF4-FFF2-40B4-BE49-F238E27FC236}">
                <a16:creationId xmlns:a16="http://schemas.microsoft.com/office/drawing/2014/main" id="{1E4E166B-120A-47A9-A1C2-A1DAAB37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Frontend</a:t>
            </a:r>
          </a:p>
        </p:txBody>
      </p:sp>
      <p:sp>
        <p:nvSpPr>
          <p:cNvPr id="8" name="text-246">
            <a:extLst xmlns:a="http://schemas.openxmlformats.org/drawingml/2006/main">
              <a:ext uri="{FF2B5EF4-FFF2-40B4-BE49-F238E27FC236}">
                <a16:creationId xmlns:a16="http://schemas.microsoft.com/office/drawing/2014/main" id="{883DBE24-8B59-44AB-8535-AF903722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428625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Cloudflare Workers</a:t>
            </a:r>
          </a:p>
        </p:txBody>
      </p:sp>
      <p:sp>
        <p:nvSpPr>
          <p:cNvPr id="9" name="text-247">
            <a:extLst xmlns:a="http://schemas.openxmlformats.org/drawingml/2006/main">
              <a:ext uri="{FF2B5EF4-FFF2-40B4-BE49-F238E27FC236}">
                <a16:creationId xmlns:a16="http://schemas.microsoft.com/office/drawing/2014/main" id="{E52632D0-03CA-47AE-ADC5-E30D374D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Backend</a:t>
            </a:r>
          </a:p>
        </p:txBody>
      </p:sp>
      <p:sp>
        <p:nvSpPr>
          <p:cNvPr id="10" name="text-248">
            <a:extLst xmlns:a="http://schemas.openxmlformats.org/drawingml/2006/main">
              <a:ext uri="{FF2B5EF4-FFF2-40B4-BE49-F238E27FC236}">
                <a16:creationId xmlns:a16="http://schemas.microsoft.com/office/drawing/2014/main" id="{E7D3E8E4-98A8-4E5B-B9AE-7EC4DDB1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28625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Django on Render</a:t>
            </a:r>
          </a:p>
        </p:txBody>
      </p:sp>
      <p:sp>
        <p:nvSpPr>
          <p:cNvPr id="11" name="text-249">
            <a:extLst xmlns:a="http://schemas.openxmlformats.org/drawingml/2006/main">
              <a:ext uri="{FF2B5EF4-FFF2-40B4-BE49-F238E27FC236}">
                <a16:creationId xmlns:a16="http://schemas.microsoft.com/office/drawing/2014/main" id="{C11155DB-D342-4410-82B6-4341794F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Email</a:t>
            </a:r>
          </a:p>
        </p:txBody>
      </p:sp>
      <p:sp>
        <p:nvSpPr>
          <p:cNvPr id="12" name="text-250">
            <a:extLst xmlns:a="http://schemas.openxmlformats.org/drawingml/2006/main">
              <a:ext uri="{FF2B5EF4-FFF2-40B4-BE49-F238E27FC236}">
                <a16:creationId xmlns:a16="http://schemas.microsoft.com/office/drawing/2014/main" id="{19B582A0-EBCC-4DAB-9622-16132E51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428625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SMTP or Resend HTTPS</a:t>
            </a:r>
          </a:p>
        </p:txBody>
      </p:sp>
      <p:sp>
        <p:nvSpPr>
          <p:cNvPr id="13" name="text-251">
            <a:extLst xmlns:a="http://schemas.openxmlformats.org/drawingml/2006/main">
              <a:ext uri="{FF2B5EF4-FFF2-40B4-BE49-F238E27FC236}">
                <a16:creationId xmlns:a16="http://schemas.microsoft.com/office/drawing/2014/main" id="{AAE96374-B9DC-42A5-A473-12835BCA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53816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The Worker preserves request bodies and cookies, streams responses and avoids caching private traffic.</a:t>
            </a:r>
          </a:p>
        </p:txBody>
      </p:sp>
      <p:sp>
        <p:nvSpPr>
          <p:cNvPr id="14" name="box-252">
            <a:extLst xmlns:a="http://schemas.openxmlformats.org/drawingml/2006/main">
              <a:ext uri="{FF2B5EF4-FFF2-40B4-BE49-F238E27FC236}">
                <a16:creationId xmlns:a16="http://schemas.microsoft.com/office/drawing/2014/main" id="{C724C7C6-EB9E-48B0-9FE9-93877562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29075"/>
            <a:ext cx="546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5" name="text-253">
            <a:extLst xmlns:a="http://schemas.openxmlformats.org/drawingml/2006/main">
              <a:ext uri="{FF2B5EF4-FFF2-40B4-BE49-F238E27FC236}">
                <a16:creationId xmlns:a16="http://schemas.microsoft.com/office/drawing/2014/main" id="{F75C5543-E00E-47A8-AA93-2C9C6D0A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14825"/>
            <a:ext cx="54673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Operational verification still matters</a:t>
            </a:r>
          </a:p>
        </p:txBody>
      </p:sp>
      <p:sp>
        <p:nvSpPr>
          <p:cNvPr id="16" name="text-254">
            <a:extLst xmlns:a="http://schemas.openxmlformats.org/drawingml/2006/main">
              <a:ext uri="{FF2B5EF4-FFF2-40B4-BE49-F238E27FC236}">
                <a16:creationId xmlns:a16="http://schemas.microsoft.com/office/drawing/2014/main" id="{66E3F14D-9B73-41CF-914C-C9C19621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4673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Check live email, login, storage, backups and service availability in the deployed environment.</a:t>
            </a:r>
          </a:p>
        </p:txBody>
      </p:sp>
    </p:spTree>
    <p:extLst>
      <p:ext uri="{BB962C8B-B14F-4D97-AF65-F5344CB8AC3E}">
        <p14:creationId xmlns:p14="http://schemas.microsoft.com/office/powerpoint/2010/main" val="17576106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210488-1765-484A-B421-842C2545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ENGINEERING DECISIONS</a:t>
            </a:r>
          </a:p>
        </p:txBody>
      </p:sp>
      <p:sp>
        <p:nvSpPr>
          <p:cNvPr id="2" name="text-255">
            <a:extLst xmlns:a="http://schemas.openxmlformats.org/drawingml/2006/main">
              <a:ext uri="{FF2B5EF4-FFF2-40B4-BE49-F238E27FC236}">
                <a16:creationId xmlns:a16="http://schemas.microsoft.com/office/drawing/2014/main" id="{D3A96BD9-FF97-4DCB-AA35-5C3D609D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The implementation addresses four practical risks</a:t>
            </a:r>
          </a:p>
        </p:txBody>
      </p:sp>
      <p:sp>
        <p:nvSpPr>
          <p:cNvPr id="3" name="box-256">
            <a:extLst xmlns:a="http://schemas.openxmlformats.org/drawingml/2006/main">
              <a:ext uri="{FF2B5EF4-FFF2-40B4-BE49-F238E27FC236}">
                <a16:creationId xmlns:a16="http://schemas.microsoft.com/office/drawing/2014/main" id="{136B80A0-0F5D-490E-87C0-12100371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257">
            <a:extLst xmlns:a="http://schemas.openxmlformats.org/drawingml/2006/main">
              <a:ext uri="{FF2B5EF4-FFF2-40B4-BE49-F238E27FC236}">
                <a16:creationId xmlns:a16="http://schemas.microsoft.com/office/drawing/2014/main" id="{6556AE48-B4E6-48E9-8AE0-B2BBE226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258">
            <a:extLst xmlns:a="http://schemas.openxmlformats.org/drawingml/2006/main">
              <a:ext uri="{FF2B5EF4-FFF2-40B4-BE49-F238E27FC236}">
                <a16:creationId xmlns:a16="http://schemas.microsoft.com/office/drawing/2014/main" id="{A4A4BCF4-46EB-44A7-AA26-9D02D826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sp>
        <p:nvSpPr>
          <p:cNvPr id="6" name="box-259">
            <a:extLst xmlns:a="http://schemas.openxmlformats.org/drawingml/2006/main">
              <a:ext uri="{FF2B5EF4-FFF2-40B4-BE49-F238E27FC236}">
                <a16:creationId xmlns:a16="http://schemas.microsoft.com/office/drawing/2014/main" id="{DD19C908-69AE-48A5-A959-021C2F9A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7" name="text-260">
            <a:extLst xmlns:a="http://schemas.openxmlformats.org/drawingml/2006/main">
              <a:ext uri="{FF2B5EF4-FFF2-40B4-BE49-F238E27FC236}">
                <a16:creationId xmlns:a16="http://schemas.microsoft.com/office/drawing/2014/main" id="{BA0808C7-D2D9-4E3A-AE78-CB90AC03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467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Account boundaries</a:t>
            </a:r>
          </a:p>
        </p:txBody>
      </p:sp>
      <p:sp>
        <p:nvSpPr>
          <p:cNvPr id="8" name="text-261">
            <a:extLst xmlns:a="http://schemas.openxmlformats.org/drawingml/2006/main">
              <a:ext uri="{FF2B5EF4-FFF2-40B4-BE49-F238E27FC236}">
                <a16:creationId xmlns:a16="http://schemas.microsoft.com/office/drawing/2014/main" id="{6F1F8AA6-8372-433D-86E2-BFE8E817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33600"/>
            <a:ext cx="71342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Server-side role, ownership and approval checks</a:t>
            </a:r>
          </a:p>
        </p:txBody>
      </p:sp>
      <p:sp>
        <p:nvSpPr>
          <p:cNvPr id="9" name="box-262">
            <a:extLst xmlns:a="http://schemas.openxmlformats.org/drawingml/2006/main">
              <a:ext uri="{FF2B5EF4-FFF2-40B4-BE49-F238E27FC236}">
                <a16:creationId xmlns:a16="http://schemas.microsoft.com/office/drawing/2014/main" id="{B19DBCBD-F83F-4AB1-9596-9FE8E8DA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0" name="text-263">
            <a:extLst xmlns:a="http://schemas.openxmlformats.org/drawingml/2006/main">
              <a:ext uri="{FF2B5EF4-FFF2-40B4-BE49-F238E27FC236}">
                <a16:creationId xmlns:a16="http://schemas.microsoft.com/office/drawing/2014/main" id="{8CDC0CDD-08E5-4AB4-B86E-E5E1EB52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3467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Delivery failures</a:t>
            </a:r>
          </a:p>
        </p:txBody>
      </p:sp>
      <p:sp>
        <p:nvSpPr>
          <p:cNvPr id="11" name="text-264">
            <a:extLst xmlns:a="http://schemas.openxmlformats.org/drawingml/2006/main">
              <a:ext uri="{FF2B5EF4-FFF2-40B4-BE49-F238E27FC236}">
                <a16:creationId xmlns:a16="http://schemas.microsoft.com/office/drawing/2014/main" id="{F861AB4E-0658-4468-8797-8209CF42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38475"/>
            <a:ext cx="71342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Registration rollback and safe code resend handling</a:t>
            </a:r>
          </a:p>
        </p:txBody>
      </p:sp>
      <p:sp>
        <p:nvSpPr>
          <p:cNvPr id="12" name="box-265">
            <a:extLst xmlns:a="http://schemas.openxmlformats.org/drawingml/2006/main">
              <a:ext uri="{FF2B5EF4-FFF2-40B4-BE49-F238E27FC236}">
                <a16:creationId xmlns:a16="http://schemas.microsoft.com/office/drawing/2014/main" id="{0558CEAA-40B1-4544-994E-24E61CCD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3" name="text-266">
            <a:extLst xmlns:a="http://schemas.openxmlformats.org/drawingml/2006/main">
              <a:ext uri="{FF2B5EF4-FFF2-40B4-BE49-F238E27FC236}">
                <a16:creationId xmlns:a16="http://schemas.microsoft.com/office/drawing/2014/main" id="{93EA76DE-E2D4-4989-AEB1-9018E331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467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Changing documents</a:t>
            </a:r>
          </a:p>
        </p:txBody>
      </p:sp>
      <p:sp>
        <p:nvSpPr>
          <p:cNvPr id="14" name="text-267">
            <a:extLst xmlns:a="http://schemas.openxmlformats.org/drawingml/2006/main">
              <a:ext uri="{FF2B5EF4-FFF2-40B4-BE49-F238E27FC236}">
                <a16:creationId xmlns:a16="http://schemas.microsoft.com/office/drawing/2014/main" id="{129037A2-ACD4-441D-8ABE-E39D835D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43350"/>
            <a:ext cx="71342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A stable resume snapshot for each application</a:t>
            </a:r>
          </a:p>
        </p:txBody>
      </p:sp>
      <p:sp>
        <p:nvSpPr>
          <p:cNvPr id="15" name="box-268">
            <a:extLst xmlns:a="http://schemas.openxmlformats.org/drawingml/2006/main">
              <a:ext uri="{FF2B5EF4-FFF2-40B4-BE49-F238E27FC236}">
                <a16:creationId xmlns:a16="http://schemas.microsoft.com/office/drawing/2014/main" id="{42A9488E-FB0A-4B2E-9D76-A53CAEBE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6" name="text-269">
            <a:extLst xmlns:a="http://schemas.openxmlformats.org/drawingml/2006/main">
              <a:ext uri="{FF2B5EF4-FFF2-40B4-BE49-F238E27FC236}">
                <a16:creationId xmlns:a16="http://schemas.microsoft.com/office/drawing/2014/main" id="{8E039141-D324-4A78-A5FA-374456A2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3467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Cross-account state</a:t>
            </a:r>
          </a:p>
        </p:txBody>
      </p:sp>
      <p:sp>
        <p:nvSpPr>
          <p:cNvPr id="17" name="text-270">
            <a:extLst xmlns:a="http://schemas.openxmlformats.org/drawingml/2006/main">
              <a:ext uri="{FF2B5EF4-FFF2-40B4-BE49-F238E27FC236}">
                <a16:creationId xmlns:a16="http://schemas.microsoft.com/office/drawing/2014/main" id="{64018BE5-A32D-4CD0-9C2D-09A76B70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848225"/>
            <a:ext cx="71342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Private responses and canceled stale notification reads</a:t>
            </a:r>
          </a:p>
        </p:txBody>
      </p:sp>
    </p:spTree>
    <p:extLst>
      <p:ext uri="{BB962C8B-B14F-4D97-AF65-F5344CB8AC3E}">
        <p14:creationId xmlns:p14="http://schemas.microsoft.com/office/powerpoint/2010/main" val="7385158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6CE37A0-CDBF-4882-9150-37EBD1C8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NEXT STEPS</a:t>
            </a:r>
          </a:p>
        </p:txBody>
      </p:sp>
      <p:sp>
        <p:nvSpPr>
          <p:cNvPr id="2" name="text-271">
            <a:extLst xmlns:a="http://schemas.openxmlformats.org/drawingml/2006/main">
              <a:ext uri="{FF2B5EF4-FFF2-40B4-BE49-F238E27FC236}">
                <a16:creationId xmlns:a16="http://schemas.microsoft.com/office/drawing/2014/main" id="{54FA85BC-DB78-44C9-8C82-715DC1AF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The next release should strengthen institutional use</a:t>
            </a:r>
          </a:p>
        </p:txBody>
      </p:sp>
      <p:sp>
        <p:nvSpPr>
          <p:cNvPr id="3" name="box-272">
            <a:extLst xmlns:a="http://schemas.openxmlformats.org/drawingml/2006/main">
              <a:ext uri="{FF2B5EF4-FFF2-40B4-BE49-F238E27FC236}">
                <a16:creationId xmlns:a16="http://schemas.microsoft.com/office/drawing/2014/main" id="{71C1AA9D-BD46-45E1-BDBF-A0CCA39A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273">
            <a:extLst xmlns:a="http://schemas.openxmlformats.org/drawingml/2006/main">
              <a:ext uri="{FF2B5EF4-FFF2-40B4-BE49-F238E27FC236}">
                <a16:creationId xmlns:a16="http://schemas.microsoft.com/office/drawing/2014/main" id="{4BA0272D-5DA1-49DF-BD46-09679F6E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274">
            <a:extLst xmlns:a="http://schemas.openxmlformats.org/drawingml/2006/main">
              <a:ext uri="{FF2B5EF4-FFF2-40B4-BE49-F238E27FC236}">
                <a16:creationId xmlns:a16="http://schemas.microsoft.com/office/drawing/2014/main" id="{4B83B4B8-90A1-477D-906F-EE3E5BFB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17</a:t>
            </a:r>
          </a:p>
        </p:txBody>
      </p:sp>
      <p:sp>
        <p:nvSpPr>
          <p:cNvPr id="6" name="text-275">
            <a:extLst xmlns:a="http://schemas.openxmlformats.org/drawingml/2006/main">
              <a:ext uri="{FF2B5EF4-FFF2-40B4-BE49-F238E27FC236}">
                <a16:creationId xmlns:a16="http://schemas.microsoft.com/office/drawing/2014/main" id="{60326B71-A343-4A8F-94BB-B7E87D99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2575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box-276">
            <a:extLst xmlns:a="http://schemas.openxmlformats.org/drawingml/2006/main">
              <a:ext uri="{FF2B5EF4-FFF2-40B4-BE49-F238E27FC236}">
                <a16:creationId xmlns:a16="http://schemas.microsoft.com/office/drawing/2014/main" id="{8A9BD7A8-E689-4CFE-87CD-C2C81BC3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8" name="text-277">
            <a:extLst xmlns:a="http://schemas.openxmlformats.org/drawingml/2006/main">
              <a:ext uri="{FF2B5EF4-FFF2-40B4-BE49-F238E27FC236}">
                <a16:creationId xmlns:a16="http://schemas.microsoft.com/office/drawing/2014/main" id="{023C4EEB-B1E1-4349-AD7C-EB2AF072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2766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Vacancy lifecycle</a:t>
            </a:r>
          </a:p>
        </p:txBody>
      </p:sp>
      <p:sp>
        <p:nvSpPr>
          <p:cNvPr id="9" name="text-278">
            <a:extLst xmlns:a="http://schemas.openxmlformats.org/drawingml/2006/main">
              <a:ext uri="{FF2B5EF4-FFF2-40B4-BE49-F238E27FC236}">
                <a16:creationId xmlns:a16="http://schemas.microsoft.com/office/drawing/2014/main" id="{191AD022-F3BD-4BFE-9836-CDE814EF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76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Frontend job editing</a:t>
            </a:r>
          </a:p>
        </p:txBody>
      </p:sp>
      <p:sp>
        <p:nvSpPr>
          <p:cNvPr id="10" name="text-279">
            <a:extLst xmlns:a="http://schemas.openxmlformats.org/drawingml/2006/main">
              <a:ext uri="{FF2B5EF4-FFF2-40B4-BE49-F238E27FC236}">
                <a16:creationId xmlns:a16="http://schemas.microsoft.com/office/drawing/2014/main" id="{D3EEBAF2-9FD4-4CE6-BE6C-802BEBD6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3276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Closing dates</a:t>
            </a:r>
          </a:p>
        </p:txBody>
      </p:sp>
      <p:sp>
        <p:nvSpPr>
          <p:cNvPr id="11" name="text-280">
            <a:extLst xmlns:a="http://schemas.openxmlformats.org/drawingml/2006/main">
              <a:ext uri="{FF2B5EF4-FFF2-40B4-BE49-F238E27FC236}">
                <a16:creationId xmlns:a16="http://schemas.microsoft.com/office/drawing/2014/main" id="{0767C8CD-CA52-49C5-96C1-FC3299CA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3276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Archiving and retention</a:t>
            </a:r>
          </a:p>
        </p:txBody>
      </p:sp>
      <p:sp>
        <p:nvSpPr>
          <p:cNvPr id="12" name="text-281">
            <a:extLst xmlns:a="http://schemas.openxmlformats.org/drawingml/2006/main">
              <a:ext uri="{FF2B5EF4-FFF2-40B4-BE49-F238E27FC236}">
                <a16:creationId xmlns:a16="http://schemas.microsoft.com/office/drawing/2014/main" id="{7321DBD3-0E68-4B9B-B3FE-2AEBF5A0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32575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box-282">
            <a:extLst xmlns:a="http://schemas.openxmlformats.org/drawingml/2006/main">
              <a:ext uri="{FF2B5EF4-FFF2-40B4-BE49-F238E27FC236}">
                <a16:creationId xmlns:a16="http://schemas.microsoft.com/office/drawing/2014/main" id="{76FC23FE-DBC0-45F3-9E1D-D9DAE6CC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14" name="text-283">
            <a:extLst xmlns:a="http://schemas.openxmlformats.org/drawingml/2006/main">
              <a:ext uri="{FF2B5EF4-FFF2-40B4-BE49-F238E27FC236}">
                <a16:creationId xmlns:a16="http://schemas.microsoft.com/office/drawing/2014/main" id="{3A05B575-2603-43EA-AB2E-35A17EBA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33750"/>
            <a:ext cx="32766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Institutional use</a:t>
            </a:r>
          </a:p>
        </p:txBody>
      </p:sp>
      <p:sp>
        <p:nvSpPr>
          <p:cNvPr id="15" name="text-284">
            <a:extLst xmlns:a="http://schemas.openxmlformats.org/drawingml/2006/main">
              <a:ext uri="{FF2B5EF4-FFF2-40B4-BE49-F238E27FC236}">
                <a16:creationId xmlns:a16="http://schemas.microsoft.com/office/drawing/2014/main" id="{2215A3D9-9F19-4258-A2F4-6615E9DD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33875"/>
            <a:ext cx="3276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More industries</a:t>
            </a:r>
          </a:p>
        </p:txBody>
      </p:sp>
      <p:sp>
        <p:nvSpPr>
          <p:cNvPr id="16" name="text-285">
            <a:extLst xmlns:a="http://schemas.openxmlformats.org/drawingml/2006/main">
              <a:ext uri="{FF2B5EF4-FFF2-40B4-BE49-F238E27FC236}">
                <a16:creationId xmlns:a16="http://schemas.microsoft.com/office/drawing/2014/main" id="{625E10AF-AFB4-4608-AFE1-AB68BA69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10125"/>
            <a:ext cx="3276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Several hiring staff per company</a:t>
            </a:r>
          </a:p>
        </p:txBody>
      </p:sp>
      <p:sp>
        <p:nvSpPr>
          <p:cNvPr id="17" name="text-286">
            <a:extLst xmlns:a="http://schemas.openxmlformats.org/drawingml/2006/main">
              <a:ext uri="{FF2B5EF4-FFF2-40B4-BE49-F238E27FC236}">
                <a16:creationId xmlns:a16="http://schemas.microsoft.com/office/drawing/2014/main" id="{6EE88A02-009F-4B3A-AD4F-48822F4B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86375"/>
            <a:ext cx="3276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Student visibility preferences</a:t>
            </a:r>
          </a:p>
        </p:txBody>
      </p:sp>
      <p:sp>
        <p:nvSpPr>
          <p:cNvPr id="18" name="text-287">
            <a:extLst xmlns:a="http://schemas.openxmlformats.org/drawingml/2006/main">
              <a:ext uri="{FF2B5EF4-FFF2-40B4-BE49-F238E27FC236}">
                <a16:creationId xmlns:a16="http://schemas.microsoft.com/office/drawing/2014/main" id="{9CC8AF0A-2B5B-4B40-A204-34E55088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2575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9" name="box-288">
            <a:extLst xmlns:a="http://schemas.openxmlformats.org/drawingml/2006/main">
              <a:ext uri="{FF2B5EF4-FFF2-40B4-BE49-F238E27FC236}">
                <a16:creationId xmlns:a16="http://schemas.microsoft.com/office/drawing/2014/main" id="{9E94133A-AC85-448B-B41D-674822D5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327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20" name="text-289">
            <a:extLst xmlns:a="http://schemas.openxmlformats.org/drawingml/2006/main">
              <a:ext uri="{FF2B5EF4-FFF2-40B4-BE49-F238E27FC236}">
                <a16:creationId xmlns:a16="http://schemas.microsoft.com/office/drawing/2014/main" id="{F9C26A2C-543B-42A0-90A0-4AA3A126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32766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Evaluation</a:t>
            </a:r>
          </a:p>
        </p:txBody>
      </p:sp>
      <p:sp>
        <p:nvSpPr>
          <p:cNvPr id="21" name="text-290">
            <a:extLst xmlns:a="http://schemas.openxmlformats.org/drawingml/2006/main">
              <a:ext uri="{FF2B5EF4-FFF2-40B4-BE49-F238E27FC236}">
                <a16:creationId xmlns:a16="http://schemas.microsoft.com/office/drawing/2014/main" id="{20043628-2253-47CF-8A59-1089AA6B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76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Browser and accessibility tests</a:t>
            </a:r>
          </a:p>
        </p:txBody>
      </p:sp>
      <p:sp>
        <p:nvSpPr>
          <p:cNvPr id="22" name="text-291">
            <a:extLst xmlns:a="http://schemas.openxmlformats.org/drawingml/2006/main">
              <a:ext uri="{FF2B5EF4-FFF2-40B4-BE49-F238E27FC236}">
                <a16:creationId xmlns:a16="http://schemas.microsoft.com/office/drawing/2014/main" id="{AC3B88DF-E41F-4293-B1E4-9997D59D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10125"/>
            <a:ext cx="3276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User-acceptance exercises</a:t>
            </a:r>
          </a:p>
        </p:txBody>
      </p:sp>
      <p:sp>
        <p:nvSpPr>
          <p:cNvPr id="23" name="text-292">
            <a:extLst xmlns:a="http://schemas.openxmlformats.org/drawingml/2006/main">
              <a:ext uri="{FF2B5EF4-FFF2-40B4-BE49-F238E27FC236}">
                <a16:creationId xmlns:a16="http://schemas.microsoft.com/office/drawing/2014/main" id="{2304F342-0F5B-431C-AC81-A951E6F0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86375"/>
            <a:ext cx="3276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Concurrent-load testing</a:t>
            </a:r>
          </a:p>
        </p:txBody>
      </p:sp>
    </p:spTree>
    <p:extLst>
      <p:ext uri="{BB962C8B-B14F-4D97-AF65-F5344CB8AC3E}">
        <p14:creationId xmlns:p14="http://schemas.microsoft.com/office/powerpoint/2010/main" val="14896941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C57E2A0-8454-42D9-B79F-5DB0966D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CFC2"/>
                </a:solidFill>
                <a:latin typeface="Arial"/>
                <a:ea typeface="Arial"/>
                <a:cs typeface="Arial"/>
              </a:defRPr>
            </a:pPr>
            <a:r>
              <a:t>PROJECT OUTCOME</a:t>
            </a:r>
          </a:p>
        </p:txBody>
      </p:sp>
      <p:sp>
        <p:nvSpPr>
          <p:cNvPr id="2" name="text-293">
            <a:extLst xmlns:a="http://schemas.openxmlformats.org/drawingml/2006/main">
              <a:ext uri="{FF2B5EF4-FFF2-40B4-BE49-F238E27FC236}">
                <a16:creationId xmlns:a16="http://schemas.microsoft.com/office/drawing/2014/main" id="{09F8BA49-95F5-4968-9961-730F666B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 complete recruitment workflow is implemented</a:t>
            </a:r>
          </a:p>
        </p:txBody>
      </p:sp>
      <p:sp>
        <p:nvSpPr>
          <p:cNvPr id="3" name="box-294">
            <a:extLst xmlns:a="http://schemas.openxmlformats.org/drawingml/2006/main">
              <a:ext uri="{FF2B5EF4-FFF2-40B4-BE49-F238E27FC236}">
                <a16:creationId xmlns:a16="http://schemas.microsoft.com/office/drawing/2014/main" id="{E33DEDC7-27B3-4CBF-9F30-4253A23F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A"/>
          </a:solidFill>
        </p:spPr>
      </p:sp>
      <p:sp>
        <p:nvSpPr>
          <p:cNvPr id="4" name="text-295">
            <a:extLst xmlns:a="http://schemas.openxmlformats.org/drawingml/2006/main">
              <a:ext uri="{FF2B5EF4-FFF2-40B4-BE49-F238E27FC236}">
                <a16:creationId xmlns:a16="http://schemas.microsoft.com/office/drawing/2014/main" id="{5AC50656-4386-4C03-8922-E22091F9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EBF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296">
            <a:extLst xmlns:a="http://schemas.openxmlformats.org/drawingml/2006/main">
              <a:ext uri="{FF2B5EF4-FFF2-40B4-BE49-F238E27FC236}">
                <a16:creationId xmlns:a16="http://schemas.microsoft.com/office/drawing/2014/main" id="{A5C1CD7D-2F7F-45B7-939B-E8306FC5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FBEBF"/>
                </a:solidFill>
                <a:latin typeface="Arial"/>
                <a:ea typeface="Arial"/>
                <a:cs typeface="Arial"/>
              </a:defRPr>
            </a:pPr>
            <a:r>
              <a:t>18</a:t>
            </a:r>
          </a:p>
        </p:txBody>
      </p:sp>
      <p:sp>
        <p:nvSpPr>
          <p:cNvPr id="6" name="text-297">
            <a:extLst xmlns:a="http://schemas.openxmlformats.org/drawingml/2006/main">
              <a:ext uri="{FF2B5EF4-FFF2-40B4-BE49-F238E27FC236}">
                <a16:creationId xmlns:a16="http://schemas.microsoft.com/office/drawing/2014/main" id="{9D8AFCCA-C8F9-432D-9D72-289A7371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10972800" cy="923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Discover. Apply. Review.</a:t>
            </a:r>
          </a:p>
        </p:txBody>
      </p:sp>
      <p:sp>
        <p:nvSpPr>
          <p:cNvPr id="7" name="text-298">
            <a:extLst xmlns:a="http://schemas.openxmlformats.org/drawingml/2006/main">
              <a:ext uri="{FF2B5EF4-FFF2-40B4-BE49-F238E27FC236}">
                <a16:creationId xmlns:a16="http://schemas.microsoft.com/office/drawing/2014/main" id="{672F2781-6DEA-4286-AE6B-6C0E787F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001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BDD3D4"/>
                </a:solidFill>
                <a:latin typeface="Arial"/>
                <a:ea typeface="Arial"/>
                <a:cs typeface="Arial"/>
              </a:defRPr>
            </a:pPr>
            <a:r>
              <a:t>Profiles, job discovery, applications and administrative review now operate in one application.</a:t>
            </a:r>
          </a:p>
        </p:txBody>
      </p:sp>
      <p:sp>
        <p:nvSpPr>
          <p:cNvPr id="8" name="text-299">
            <a:extLst xmlns:a="http://schemas.openxmlformats.org/drawingml/2006/main">
              <a:ext uri="{FF2B5EF4-FFF2-40B4-BE49-F238E27FC236}">
                <a16:creationId xmlns:a16="http://schemas.microsoft.com/office/drawing/2014/main" id="{016E07E7-FA1C-4692-8D95-67A88E23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4838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8CFC2"/>
                </a:solidFill>
                <a:latin typeface="Arial"/>
                <a:ea typeface="Arial"/>
                <a:cs typeface="Arial"/>
              </a:defRPr>
            </a:pPr>
            <a:r>
              <a:t>Implemented foundation</a:t>
            </a:r>
          </a:p>
        </p:txBody>
      </p:sp>
      <p:sp>
        <p:nvSpPr>
          <p:cNvPr id="9" name="text-300">
            <a:extLst xmlns:a="http://schemas.openxmlformats.org/drawingml/2006/main">
              <a:ext uri="{FF2B5EF4-FFF2-40B4-BE49-F238E27FC236}">
                <a16:creationId xmlns:a16="http://schemas.microsoft.com/office/drawing/2014/main" id="{FEBEDF48-699A-4B6D-8E84-6922BA1E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81600"/>
            <a:ext cx="5962650" cy="752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Next: deployment evaluation and institutional feedback</a:t>
            </a:r>
          </a:p>
        </p:txBody>
      </p:sp>
    </p:spTree>
    <p:extLst>
      <p:ext uri="{BB962C8B-B14F-4D97-AF65-F5344CB8AC3E}">
        <p14:creationId xmlns:p14="http://schemas.microsoft.com/office/powerpoint/2010/main" val="1216304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AF60D1-A260-455D-88A7-76A2A8F7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DEMONSTRATION</a:t>
            </a:r>
          </a:p>
        </p:txBody>
      </p:sp>
      <p:sp>
        <p:nvSpPr>
          <p:cNvPr id="2" name="text-301">
            <a:extLst xmlns:a="http://schemas.openxmlformats.org/drawingml/2006/main">
              <a:ext uri="{FF2B5EF4-FFF2-40B4-BE49-F238E27FC236}">
                <a16:creationId xmlns:a16="http://schemas.microsoft.com/office/drawing/2014/main" id="{FEB91970-9A1B-461C-813A-AF00EFA4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Student experience</a:t>
            </a:r>
          </a:p>
        </p:txBody>
      </p:sp>
      <p:sp>
        <p:nvSpPr>
          <p:cNvPr id="3" name="box-302">
            <a:extLst xmlns:a="http://schemas.openxmlformats.org/drawingml/2006/main">
              <a:ext uri="{FF2B5EF4-FFF2-40B4-BE49-F238E27FC236}">
                <a16:creationId xmlns:a16="http://schemas.microsoft.com/office/drawing/2014/main" id="{E43F78B5-9A9C-43F3-87C1-6C8D711C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303">
            <a:extLst xmlns:a="http://schemas.openxmlformats.org/drawingml/2006/main">
              <a:ext uri="{FF2B5EF4-FFF2-40B4-BE49-F238E27FC236}">
                <a16:creationId xmlns:a16="http://schemas.microsoft.com/office/drawing/2014/main" id="{8163C651-FC9C-4F27-9916-6BD7D18E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304">
            <a:extLst xmlns:a="http://schemas.openxmlformats.org/drawingml/2006/main">
              <a:ext uri="{FF2B5EF4-FFF2-40B4-BE49-F238E27FC236}">
                <a16:creationId xmlns:a16="http://schemas.microsoft.com/office/drawing/2014/main" id="{8429C55C-0B9F-4241-BFF6-F380A2B1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19</a:t>
            </a:r>
          </a:p>
        </p:txBody>
      </p:sp>
      <p:sp>
        <p:nvSpPr>
          <p:cNvPr id="6" name="box-305">
            <a:extLst xmlns:a="http://schemas.openxmlformats.org/drawingml/2006/main">
              <a:ext uri="{FF2B5EF4-FFF2-40B4-BE49-F238E27FC236}">
                <a16:creationId xmlns:a16="http://schemas.microsoft.com/office/drawing/2014/main" id="{20267BEB-7666-49A5-ADFA-AC83AB67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7685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8D7"/>
            </a:solidFill>
            <a:prstDash val="dash"/>
          </a:ln>
        </p:spPr>
      </p:sp>
      <p:sp>
        <p:nvSpPr>
          <p:cNvPr id="7" name="text-306">
            <a:extLst xmlns:a="http://schemas.openxmlformats.org/drawingml/2006/main">
              <a:ext uri="{FF2B5EF4-FFF2-40B4-BE49-F238E27FC236}">
                <a16:creationId xmlns:a16="http://schemas.microsoft.com/office/drawing/2014/main" id="{CCF84C5B-FA1A-429C-90DE-90AE9BB3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481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Job feed and search</a:t>
            </a:r>
          </a:p>
        </p:txBody>
      </p:sp>
      <p:sp>
        <p:nvSpPr>
          <p:cNvPr id="8" name="text-307">
            <a:extLst xmlns:a="http://schemas.openxmlformats.org/drawingml/2006/main">
              <a:ext uri="{FF2B5EF4-FFF2-40B4-BE49-F238E27FC236}">
                <a16:creationId xmlns:a16="http://schemas.microsoft.com/office/drawing/2014/main" id="{B9CD0127-8C5B-481A-9483-C321C47A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4819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Insert your actual application screenshot</a:t>
            </a:r>
          </a:p>
        </p:txBody>
      </p:sp>
      <p:sp>
        <p:nvSpPr>
          <p:cNvPr id="9" name="box-308">
            <a:extLst xmlns:a="http://schemas.openxmlformats.org/drawingml/2006/main">
              <a:ext uri="{FF2B5EF4-FFF2-40B4-BE49-F238E27FC236}">
                <a16:creationId xmlns:a16="http://schemas.microsoft.com/office/drawing/2014/main" id="{F38AEDF1-88D4-471A-9A9A-5F4DD387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527685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8D7"/>
            </a:solidFill>
            <a:prstDash val="dash"/>
          </a:ln>
        </p:spPr>
      </p:sp>
      <p:sp>
        <p:nvSpPr>
          <p:cNvPr id="10" name="text-309">
            <a:extLst xmlns:a="http://schemas.openxmlformats.org/drawingml/2006/main">
              <a:ext uri="{FF2B5EF4-FFF2-40B4-BE49-F238E27FC236}">
                <a16:creationId xmlns:a16="http://schemas.microsoft.com/office/drawing/2014/main" id="{901443D5-36E5-4553-9164-EA4A66A0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481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Student profile and applications</a:t>
            </a:r>
          </a:p>
        </p:txBody>
      </p:sp>
      <p:sp>
        <p:nvSpPr>
          <p:cNvPr id="11" name="text-310">
            <a:extLst xmlns:a="http://schemas.openxmlformats.org/drawingml/2006/main">
              <a:ext uri="{FF2B5EF4-FFF2-40B4-BE49-F238E27FC236}">
                <a16:creationId xmlns:a16="http://schemas.microsoft.com/office/drawing/2014/main" id="{394C6BF6-5948-4873-A82F-A3A01B1C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38725"/>
            <a:ext cx="4819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Insert your actual application screenshot</a:t>
            </a:r>
          </a:p>
        </p:txBody>
      </p:sp>
    </p:spTree>
    <p:extLst>
      <p:ext uri="{BB962C8B-B14F-4D97-AF65-F5344CB8AC3E}">
        <p14:creationId xmlns:p14="http://schemas.microsoft.com/office/powerpoint/2010/main" val="20662167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043DCF-CB45-4FA7-8A56-C1ED412B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DEMONSTRATION</a:t>
            </a:r>
          </a:p>
        </p:txBody>
      </p:sp>
      <p:sp>
        <p:nvSpPr>
          <p:cNvPr id="2" name="text-311">
            <a:extLst xmlns:a="http://schemas.openxmlformats.org/drawingml/2006/main">
              <a:ext uri="{FF2B5EF4-FFF2-40B4-BE49-F238E27FC236}">
                <a16:creationId xmlns:a16="http://schemas.microsoft.com/office/drawing/2014/main" id="{39B1A320-947E-4322-8D0F-D6476654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Recruiter and administrator experience</a:t>
            </a:r>
          </a:p>
        </p:txBody>
      </p:sp>
      <p:sp>
        <p:nvSpPr>
          <p:cNvPr id="3" name="box-312">
            <a:extLst xmlns:a="http://schemas.openxmlformats.org/drawingml/2006/main">
              <a:ext uri="{FF2B5EF4-FFF2-40B4-BE49-F238E27FC236}">
                <a16:creationId xmlns:a16="http://schemas.microsoft.com/office/drawing/2014/main" id="{99FDA651-90DB-477F-92DF-A819FEBF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313">
            <a:extLst xmlns:a="http://schemas.openxmlformats.org/drawingml/2006/main">
              <a:ext uri="{FF2B5EF4-FFF2-40B4-BE49-F238E27FC236}">
                <a16:creationId xmlns:a16="http://schemas.microsoft.com/office/drawing/2014/main" id="{9FA0AB43-406A-4DB5-9F65-00358155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314">
            <a:extLst xmlns:a="http://schemas.openxmlformats.org/drawingml/2006/main">
              <a:ext uri="{FF2B5EF4-FFF2-40B4-BE49-F238E27FC236}">
                <a16:creationId xmlns:a16="http://schemas.microsoft.com/office/drawing/2014/main" id="{717C2D75-2B0A-4B93-8E41-00208055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20</a:t>
            </a:r>
          </a:p>
        </p:txBody>
      </p:sp>
      <p:sp>
        <p:nvSpPr>
          <p:cNvPr id="6" name="box-315">
            <a:extLst xmlns:a="http://schemas.openxmlformats.org/drawingml/2006/main">
              <a:ext uri="{FF2B5EF4-FFF2-40B4-BE49-F238E27FC236}">
                <a16:creationId xmlns:a16="http://schemas.microsoft.com/office/drawing/2014/main" id="{E6B6833B-8CAF-475F-B573-579F06EB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7685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8D7"/>
            </a:solidFill>
            <a:prstDash val="dash"/>
          </a:ln>
        </p:spPr>
      </p:sp>
      <p:sp>
        <p:nvSpPr>
          <p:cNvPr id="7" name="text-316">
            <a:extLst xmlns:a="http://schemas.openxmlformats.org/drawingml/2006/main">
              <a:ext uri="{FF2B5EF4-FFF2-40B4-BE49-F238E27FC236}">
                <a16:creationId xmlns:a16="http://schemas.microsoft.com/office/drawing/2014/main" id="{21A32943-FAE8-41B2-9846-B677712F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481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Recruiter profile and applicants</a:t>
            </a:r>
          </a:p>
        </p:txBody>
      </p:sp>
      <p:sp>
        <p:nvSpPr>
          <p:cNvPr id="8" name="text-317">
            <a:extLst xmlns:a="http://schemas.openxmlformats.org/drawingml/2006/main">
              <a:ext uri="{FF2B5EF4-FFF2-40B4-BE49-F238E27FC236}">
                <a16:creationId xmlns:a16="http://schemas.microsoft.com/office/drawing/2014/main" id="{808ECF91-6097-4143-97F6-FDED4DC0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4819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Insert your actual application screenshot</a:t>
            </a:r>
          </a:p>
        </p:txBody>
      </p:sp>
      <p:sp>
        <p:nvSpPr>
          <p:cNvPr id="9" name="box-318">
            <a:extLst xmlns:a="http://schemas.openxmlformats.org/drawingml/2006/main">
              <a:ext uri="{FF2B5EF4-FFF2-40B4-BE49-F238E27FC236}">
                <a16:creationId xmlns:a16="http://schemas.microsoft.com/office/drawing/2014/main" id="{A18CA8B1-99AE-49A2-A25F-2AA2A64B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527685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8D7"/>
            </a:solidFill>
            <a:prstDash val="dash"/>
          </a:ln>
        </p:spPr>
      </p:sp>
      <p:sp>
        <p:nvSpPr>
          <p:cNvPr id="10" name="text-319">
            <a:extLst xmlns:a="http://schemas.openxmlformats.org/drawingml/2006/main">
              <a:ext uri="{FF2B5EF4-FFF2-40B4-BE49-F238E27FC236}">
                <a16:creationId xmlns:a16="http://schemas.microsoft.com/office/drawing/2014/main" id="{BF401AB5-DBCB-4BB5-9A85-EF476F95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481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Administrator dashboard</a:t>
            </a:r>
          </a:p>
        </p:txBody>
      </p:sp>
      <p:sp>
        <p:nvSpPr>
          <p:cNvPr id="11" name="text-320">
            <a:extLst xmlns:a="http://schemas.openxmlformats.org/drawingml/2006/main">
              <a:ext uri="{FF2B5EF4-FFF2-40B4-BE49-F238E27FC236}">
                <a16:creationId xmlns:a16="http://schemas.microsoft.com/office/drawing/2014/main" id="{A39AAA33-CC81-441B-A47C-C42AB546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38725"/>
            <a:ext cx="4819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Insert your actual application screenshot</a:t>
            </a:r>
          </a:p>
        </p:txBody>
      </p:sp>
    </p:spTree>
    <p:extLst>
      <p:ext uri="{BB962C8B-B14F-4D97-AF65-F5344CB8AC3E}">
        <p14:creationId xmlns:p14="http://schemas.microsoft.com/office/powerpoint/2010/main" val="3478773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12D010E-4A6B-4FA0-8490-20D0DC3E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DEMONSTRATION</a:t>
            </a:r>
          </a:p>
        </p:txBody>
      </p:sp>
      <p:sp>
        <p:nvSpPr>
          <p:cNvPr id="2" name="text-321">
            <a:extLst xmlns:a="http://schemas.openxmlformats.org/drawingml/2006/main">
              <a:ext uri="{FF2B5EF4-FFF2-40B4-BE49-F238E27FC236}">
                <a16:creationId xmlns:a16="http://schemas.microsoft.com/office/drawing/2014/main" id="{DFD37A70-1BC1-48D0-A8CD-E26342BC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Verification and interface updates</a:t>
            </a:r>
          </a:p>
        </p:txBody>
      </p:sp>
      <p:sp>
        <p:nvSpPr>
          <p:cNvPr id="3" name="box-322">
            <a:extLst xmlns:a="http://schemas.openxmlformats.org/drawingml/2006/main">
              <a:ext uri="{FF2B5EF4-FFF2-40B4-BE49-F238E27FC236}">
                <a16:creationId xmlns:a16="http://schemas.microsoft.com/office/drawing/2014/main" id="{4EBB697A-25B5-406C-B836-BAC2AB12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323">
            <a:extLst xmlns:a="http://schemas.openxmlformats.org/drawingml/2006/main">
              <a:ext uri="{FF2B5EF4-FFF2-40B4-BE49-F238E27FC236}">
                <a16:creationId xmlns:a16="http://schemas.microsoft.com/office/drawing/2014/main" id="{ECB4C6E1-7CE2-424F-B30F-52FBACED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324">
            <a:extLst xmlns:a="http://schemas.openxmlformats.org/drawingml/2006/main">
              <a:ext uri="{FF2B5EF4-FFF2-40B4-BE49-F238E27FC236}">
                <a16:creationId xmlns:a16="http://schemas.microsoft.com/office/drawing/2014/main" id="{4A2E0D5D-61CD-4A80-9BDA-7B153F42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21</a:t>
            </a:r>
          </a:p>
        </p:txBody>
      </p:sp>
      <p:sp>
        <p:nvSpPr>
          <p:cNvPr id="6" name="box-325">
            <a:extLst xmlns:a="http://schemas.openxmlformats.org/drawingml/2006/main">
              <a:ext uri="{FF2B5EF4-FFF2-40B4-BE49-F238E27FC236}">
                <a16:creationId xmlns:a16="http://schemas.microsoft.com/office/drawing/2014/main" id="{5FBF4642-BBFD-4316-B62C-D8A5C226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8D7"/>
            </a:solidFill>
            <a:prstDash val="dash"/>
          </a:ln>
        </p:spPr>
      </p:sp>
      <p:sp>
        <p:nvSpPr>
          <p:cNvPr id="7" name="text-326">
            <a:extLst xmlns:a="http://schemas.openxmlformats.org/drawingml/2006/main">
              <a:ext uri="{FF2B5EF4-FFF2-40B4-BE49-F238E27FC236}">
                <a16:creationId xmlns:a16="http://schemas.microsoft.com/office/drawing/2014/main" id="{89CE12BB-C651-418E-B47D-87741EFD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0515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Verification, theme and notifications</a:t>
            </a:r>
          </a:p>
        </p:txBody>
      </p:sp>
      <p:sp>
        <p:nvSpPr>
          <p:cNvPr id="8" name="text-327">
            <a:extLst xmlns:a="http://schemas.openxmlformats.org/drawingml/2006/main">
              <a:ext uri="{FF2B5EF4-FFF2-40B4-BE49-F238E27FC236}">
                <a16:creationId xmlns:a16="http://schemas.microsoft.com/office/drawing/2014/main" id="{EBB5486D-79F0-46A2-9FEE-7B613E0B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0515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Insert your actual application screenshot</a:t>
            </a:r>
          </a:p>
        </p:txBody>
      </p:sp>
      <p:sp>
        <p:nvSpPr>
          <p:cNvPr id="9" name="text-328">
            <a:extLst xmlns:a="http://schemas.openxmlformats.org/drawingml/2006/main">
              <a:ext uri="{FF2B5EF4-FFF2-40B4-BE49-F238E27FC236}">
                <a16:creationId xmlns:a16="http://schemas.microsoft.com/office/drawing/2014/main" id="{A4C7F19B-4040-4B9C-BE9F-EFDEF1A1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Demonstrate email verification, switch themes, then open private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20178977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12CE25C-02D9-429E-9F70-8AB7EEB3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t>SUPPORTING MATERIAL</a:t>
            </a:r>
          </a:p>
        </p:txBody>
      </p:sp>
      <p:sp>
        <p:nvSpPr>
          <p:cNvPr id="2" name="text-329">
            <a:extLst xmlns:a="http://schemas.openxmlformats.org/drawingml/2006/main">
              <a:ext uri="{FF2B5EF4-FFF2-40B4-BE49-F238E27FC236}">
                <a16:creationId xmlns:a16="http://schemas.microsoft.com/office/drawing/2014/main" id="{875D6791-759B-41A3-A57D-742BEA6D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References and project evidence</a:t>
            </a:r>
          </a:p>
        </p:txBody>
      </p:sp>
      <p:sp>
        <p:nvSpPr>
          <p:cNvPr id="3" name="box-330">
            <a:extLst xmlns:a="http://schemas.openxmlformats.org/drawingml/2006/main">
              <a:ext uri="{FF2B5EF4-FFF2-40B4-BE49-F238E27FC236}">
                <a16:creationId xmlns:a16="http://schemas.microsoft.com/office/drawing/2014/main" id="{F1225BAC-9360-4937-8062-8939178E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7"/>
          </a:solidFill>
        </p:spPr>
      </p:sp>
      <p:sp>
        <p:nvSpPr>
          <p:cNvPr id="4" name="text-331">
            <a:extLst xmlns:a="http://schemas.openxmlformats.org/drawingml/2006/main">
              <a:ext uri="{FF2B5EF4-FFF2-40B4-BE49-F238E27FC236}">
                <a16:creationId xmlns:a16="http://schemas.microsoft.com/office/drawing/2014/main" id="{5C353323-B7F4-4C1E-82DD-38E04DC2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5" name="text-332">
            <a:extLst xmlns:a="http://schemas.openxmlformats.org/drawingml/2006/main">
              <a:ext uri="{FF2B5EF4-FFF2-40B4-BE49-F238E27FC236}">
                <a16:creationId xmlns:a16="http://schemas.microsoft.com/office/drawing/2014/main" id="{94624746-E504-437B-9B0E-20EB4C43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22</a:t>
            </a:r>
          </a:p>
        </p:txBody>
      </p:sp>
      <p:sp>
        <p:nvSpPr>
          <p:cNvPr id="6" name="text-333">
            <a:extLst xmlns:a="http://schemas.openxmlformats.org/drawingml/2006/main">
              <a:ext uri="{FF2B5EF4-FFF2-40B4-BE49-F238E27FC236}">
                <a16:creationId xmlns:a16="http://schemas.microsoft.com/office/drawing/2014/main" id="{072E5F6C-C65A-42E1-A570-E558AB3F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Project evidence</a:t>
            </a:r>
          </a:p>
        </p:txBody>
      </p:sp>
      <p:sp>
        <p:nvSpPr>
          <p:cNvPr id="7" name="text-334">
            <a:extLst xmlns:a="http://schemas.openxmlformats.org/drawingml/2006/main">
              <a:ext uri="{FF2B5EF4-FFF2-40B4-BE49-F238E27FC236}">
                <a16:creationId xmlns:a16="http://schemas.microsoft.com/office/drawing/2014/main" id="{C7AD56F1-C347-42FC-A409-1827E146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972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Midterm report and slides; updated final report; current source and tests.</a:t>
            </a:r>
          </a:p>
        </p:txBody>
      </p:sp>
      <p:sp>
        <p:nvSpPr>
          <p:cNvPr id="8" name="text-335">
            <a:extLst xmlns:a="http://schemas.openxmlformats.org/drawingml/2006/main">
              <a:ext uri="{FF2B5EF4-FFF2-40B4-BE49-F238E27FC236}">
                <a16:creationId xmlns:a16="http://schemas.microsoft.com/office/drawing/2014/main" id="{1B7E668F-C8E2-4ED2-8709-DCF274B4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Framework documentation</a:t>
            </a:r>
          </a:p>
        </p:txBody>
      </p:sp>
      <p:sp>
        <p:nvSpPr>
          <p:cNvPr id="9" name="text-336">
            <a:extLst xmlns:a="http://schemas.openxmlformats.org/drawingml/2006/main">
              <a:ext uri="{FF2B5EF4-FFF2-40B4-BE49-F238E27FC236}">
                <a16:creationId xmlns:a16="http://schemas.microsoft.com/office/drawing/2014/main" id="{A5A7F06D-02E2-45AE-8CD8-CE81AC53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Django • Django REST Framework • React • TypeScript</a:t>
            </a:r>
          </a:p>
        </p:txBody>
      </p:sp>
      <p:sp>
        <p:nvSpPr>
          <p:cNvPr id="10" name="text-337">
            <a:extLst xmlns:a="http://schemas.openxmlformats.org/drawingml/2006/main">
              <a:ext uri="{FF2B5EF4-FFF2-40B4-BE49-F238E27FC236}">
                <a16:creationId xmlns:a16="http://schemas.microsoft.com/office/drawing/2014/main" id="{CEF60317-357C-468A-BDA4-16482F4A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23A"/>
                </a:solidFill>
                <a:latin typeface="Arial"/>
                <a:ea typeface="Arial"/>
                <a:cs typeface="Arial"/>
              </a:defRPr>
            </a:pPr>
            <a:r>
              <a:t>Hosting and email references</a:t>
            </a:r>
          </a:p>
        </p:txBody>
      </p:sp>
      <p:sp>
        <p:nvSpPr>
          <p:cNvPr id="11" name="text-338">
            <a:extLst xmlns:a="http://schemas.openxmlformats.org/drawingml/2006/main">
              <a:ext uri="{FF2B5EF4-FFF2-40B4-BE49-F238E27FC236}">
                <a16:creationId xmlns:a16="http://schemas.microsoft.com/office/drawing/2014/main" id="{A18BE1A2-0B00-41BB-BD9E-36EAF078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972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Cloudflare Workers • Render Django deployment • Resend API</a:t>
            </a:r>
          </a:p>
        </p:txBody>
      </p:sp>
      <p:sp>
        <p:nvSpPr>
          <p:cNvPr id="12" name="text-339">
            <a:extLst xmlns:a="http://schemas.openxmlformats.org/drawingml/2006/main">
              <a:ext uri="{FF2B5EF4-FFF2-40B4-BE49-F238E27FC236}">
                <a16:creationId xmlns:a16="http://schemas.microsoft.com/office/drawing/2014/main" id="{73BE048F-5600-404F-B9D5-89A299E0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86D"/>
                </a:solidFill>
                <a:latin typeface="Arial"/>
                <a:ea typeface="Arial"/>
                <a:cs typeface="Arial"/>
              </a:defRPr>
            </a:pPr>
            <a:r>
              <a:t>Full links and verification context are included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3231995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02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E1AF1CC-DB0D-427A-8A70-D1A3A94C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CFC2"/>
                </a:solidFill>
                <a:latin typeface="Arial"/>
                <a:ea typeface="Arial"/>
                <a:cs typeface="Arial"/>
              </a:defRPr>
            </a:pPr>
            <a:r>
              <a:t>DISCUSSION</a:t>
            </a:r>
          </a:p>
        </p:txBody>
      </p:sp>
      <p:sp>
        <p:nvSpPr>
          <p:cNvPr id="2" name="box-340">
            <a:extLst xmlns:a="http://schemas.openxmlformats.org/drawingml/2006/main">
              <a:ext uri="{FF2B5EF4-FFF2-40B4-BE49-F238E27FC236}">
                <a16:creationId xmlns:a16="http://schemas.microsoft.com/office/drawing/2014/main" id="{BDBB964F-5977-4099-9768-1CA1A65C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A"/>
          </a:solidFill>
        </p:spPr>
      </p:sp>
      <p:sp>
        <p:nvSpPr>
          <p:cNvPr id="3" name="text-341">
            <a:extLst xmlns:a="http://schemas.openxmlformats.org/drawingml/2006/main">
              <a:ext uri="{FF2B5EF4-FFF2-40B4-BE49-F238E27FC236}">
                <a16:creationId xmlns:a16="http://schemas.microsoft.com/office/drawing/2014/main" id="{AF7E3DFD-4B83-4CA9-A65E-A43F4780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04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EBF"/>
                </a:solidFill>
                <a:latin typeface="Arial"/>
                <a:ea typeface="Arial"/>
                <a:cs typeface="Arial"/>
              </a:defRPr>
            </a:pPr>
            <a:r>
              <a:t>MIIT  /  JOB PORTAL  /  FINAL PROJECT</a:t>
            </a:r>
          </a:p>
        </p:txBody>
      </p:sp>
      <p:sp>
        <p:nvSpPr>
          <p:cNvPr id="4" name="text-342">
            <a:extLst xmlns:a="http://schemas.openxmlformats.org/drawingml/2006/main">
              <a:ext uri="{FF2B5EF4-FFF2-40B4-BE49-F238E27FC236}">
                <a16:creationId xmlns:a16="http://schemas.microsoft.com/office/drawing/2014/main" id="{7256B52D-790E-44E1-935B-BE9CC973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FBEBF"/>
                </a:solidFill>
                <a:latin typeface="Arial"/>
                <a:ea typeface="Arial"/>
                <a:cs typeface="Arial"/>
              </a:defRPr>
            </a:pPr>
            <a:r>
              <a:t>23</a:t>
            </a:r>
          </a:p>
        </p:txBody>
      </p:sp>
      <p:sp>
        <p:nvSpPr>
          <p:cNvPr id="5" name="text-343">
            <a:extLst xmlns:a="http://schemas.openxmlformats.org/drawingml/2006/main">
              <a:ext uri="{FF2B5EF4-FFF2-40B4-BE49-F238E27FC236}">
                <a16:creationId xmlns:a16="http://schemas.microsoft.com/office/drawing/2014/main" id="{D5A44120-69B6-47EE-8A69-9B6E9C21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9525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5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Thank you.</a:t>
            </a:r>
          </a:p>
        </p:txBody>
      </p:sp>
      <p:sp>
        <p:nvSpPr>
          <p:cNvPr id="6" name="text-344">
            <a:extLst xmlns:a="http://schemas.openxmlformats.org/drawingml/2006/main">
              <a:ext uri="{FF2B5EF4-FFF2-40B4-BE49-F238E27FC236}">
                <a16:creationId xmlns:a16="http://schemas.microsoft.com/office/drawing/2014/main" id="{F7868610-45D1-4540-A9F7-AAFA936C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9525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5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Questions?</a:t>
            </a:r>
          </a:p>
        </p:txBody>
      </p:sp>
      <p:sp>
        <p:nvSpPr>
          <p:cNvPr id="7" name="text-345">
            <a:extLst xmlns:a="http://schemas.openxmlformats.org/drawingml/2006/main">
              <a:ext uri="{FF2B5EF4-FFF2-40B4-BE49-F238E27FC236}">
                <a16:creationId xmlns:a16="http://schemas.microsoft.com/office/drawing/2014/main" id="{FC54B7F7-3CCA-4850-A355-F6589F2F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09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78CFC2"/>
                </a:solidFill>
                <a:latin typeface="Arial"/>
                <a:ea typeface="Arial"/>
                <a:cs typeface="Arial"/>
              </a:defRPr>
            </a:pPr>
            <a:r>
              <a:t>Job Portal for University Students</a:t>
            </a:r>
          </a:p>
        </p:txBody>
      </p:sp>
      <p:sp>
        <p:nvSpPr>
          <p:cNvPr id="8" name="text-346">
            <a:extLst xmlns:a="http://schemas.openxmlformats.org/drawingml/2006/main">
              <a:ext uri="{FF2B5EF4-FFF2-40B4-BE49-F238E27FC236}">
                <a16:creationId xmlns:a16="http://schemas.microsoft.com/office/drawing/2014/main" id="{C77C190A-E87D-4D5F-8703-0E0017BD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00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DD3D4"/>
                </a:solidFill>
                <a:latin typeface="Arial"/>
                <a:ea typeface="Arial"/>
                <a:cs typeface="Arial"/>
              </a:defRPr>
            </a:pPr>
            <a:r>
              <a:t>Myanmar Institute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052876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2026-09-21T11:27:59.3530000Z</dcterms:created>
  <dcterms:modified xsi:type="dcterms:W3CDTF">2026-09-21T11:27:59.3530000Z</dcterms:modified>
</coreProperties>
</file>